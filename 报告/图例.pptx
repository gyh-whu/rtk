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56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27F6B-0917-4A1C-B5DE-5CF45D18FBC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20D73-7EBB-4C2E-8637-8711E1449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6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3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29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561D-5B8A-491F-BF49-9A1B62BC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04636-9DDC-4D15-99B0-E0C2CEA55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8BDD1-A0CE-4250-9690-8F2B7C2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B03A2-A7F5-4E45-B737-6719B872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BF5D7C-1494-4772-BC50-60417EDB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137E-AB96-4FF3-ADF7-284035DD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95FDB-4176-4A3D-B4A4-A2FBFAF0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AF81E-3863-4659-B90D-B88545C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D8332-A171-4763-B917-B3A798FC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7BCB3-2E08-44F3-B9F1-BED90E68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6FB50-AF57-4A0E-857D-18C03BA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73FDB-7E9E-4E6B-BC31-E01DB991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1D3B-5512-45EF-8723-C3088F0B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5DDA0-6C16-4FC3-9600-08FB1B1E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DDBA7-A2FB-4971-B4EF-1E83D2BC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B485E-A0E3-4E7A-A8C2-82F82EB5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73DD6-7FE1-46E9-900E-655E9BD1F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AACD4-0DCB-413E-A02D-C6D24460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F4B18-A2CE-46B5-A88A-D9711BF2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898CE-35E2-4879-B650-580EBB2D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BCCC4-DA68-4620-8258-EBC8082F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11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E13C3-2500-4B73-867B-14C0ABB9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A06188-3E1A-4CDC-8915-797526DE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F0813-A078-4A3A-8AB0-C3A8A918A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FE530E-2318-4220-8BE5-83B69B43C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1F669-38E9-41D9-B135-971756789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504A39-0BA2-4E0D-BB66-E3D97E4D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451720-6CEC-476B-A0B5-7F6343B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D46EE9-5B39-4AD7-AA5F-FF4B89E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1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64D0E-BCE8-4E4F-9E9D-65746A10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E88F0-DD4F-4A6F-8CD6-BDBF346F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9785A-17CE-4A22-93D8-CD45A31A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0EE18-D3A0-4F69-B78C-F690DF0F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50948-947C-4EFF-B836-6784D6C1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2E2DF-3246-4966-915E-8DBF576B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48652-4CEC-490F-A921-5EF693F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5167-4EB1-425A-A989-72AE7DD7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A09BD-200D-402A-AC49-21D5A715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6578E-E670-493D-972F-8CD344DF0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3C7F9A-3908-4645-B594-37B00F70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0C0F4-A0B3-4502-9119-2CA7E074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7FBF8-2BA9-4261-A909-91FF6240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C6CA-3481-4E04-A04A-6097D494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E198E-D642-4389-A3BF-A2DFA3390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3F0A22-833B-443B-ACE8-7BEC581FB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A234D-CE06-4EC6-A5AB-4F2CBA5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3282D-CCBA-4337-B2EF-F77B0CFB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BE68C-0DCB-4842-B830-6EBB0C4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0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F5CA-527E-40C9-99BD-DC98BCA0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7F36C-37F0-4D2B-8E49-24C3A579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FD101-4309-4098-8C23-261B60E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36E79-0FD2-4E4E-A08E-C6B7497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BB147-08F3-4115-9FA6-A267FB3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0DA1-9FFD-4C25-9D4D-B99F37E85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C209A-AD15-4004-84B6-CC3C9130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7139C-F910-486E-B48A-C728860F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ADA6D-FC00-4FF1-B882-31B21C77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A8876-E22B-43ED-94A7-37777E7E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9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8DE2AD-9456-4D06-90B4-5902CDC5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AD24A-C94A-40BE-BBCF-FAC9B667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F8FD-6D8C-41B5-9F93-B23C286B8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7DAF-FD08-4FAC-9676-A38CC7BEA738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0936C-AAF5-49B4-8FC1-672DFDB8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FD3D7-50DC-4EA9-B259-2C0998A50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6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963E184-9D46-47EF-82B1-3FC21F8009E6}"/>
              </a:ext>
            </a:extLst>
          </p:cNvPr>
          <p:cNvSpPr/>
          <p:nvPr/>
        </p:nvSpPr>
        <p:spPr>
          <a:xfrm>
            <a:off x="339026" y="925539"/>
            <a:ext cx="1709353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单点定位软件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738715F-139D-43CB-801F-CE61B7F2E24E}"/>
              </a:ext>
            </a:extLst>
          </p:cNvPr>
          <p:cNvSpPr/>
          <p:nvPr/>
        </p:nvSpPr>
        <p:spPr>
          <a:xfrm>
            <a:off x="718867" y="1965767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数据获取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BF2718-8FD4-45C0-A70B-06B75E4F53EC}"/>
              </a:ext>
            </a:extLst>
          </p:cNvPr>
          <p:cNvSpPr/>
          <p:nvPr/>
        </p:nvSpPr>
        <p:spPr>
          <a:xfrm>
            <a:off x="1889362" y="1965767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数据解码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B683D17-E8AC-433C-9A93-F4E88029AB61}"/>
              </a:ext>
            </a:extLst>
          </p:cNvPr>
          <p:cNvSpPr/>
          <p:nvPr/>
        </p:nvSpPr>
        <p:spPr>
          <a:xfrm>
            <a:off x="3059857" y="1965767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导航定位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6C5E24-5591-4110-91C4-240D9CE477A8}"/>
              </a:ext>
            </a:extLst>
          </p:cNvPr>
          <p:cNvSpPr/>
          <p:nvPr/>
        </p:nvSpPr>
        <p:spPr>
          <a:xfrm>
            <a:off x="244027" y="29222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文件读取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8FDF1C4-9F2C-4ACD-BE32-2BC921AB0F2E}"/>
              </a:ext>
            </a:extLst>
          </p:cNvPr>
          <p:cNvSpPr/>
          <p:nvPr/>
        </p:nvSpPr>
        <p:spPr>
          <a:xfrm>
            <a:off x="244028" y="34683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串口通信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033D599-9B2E-4CE7-BD69-017E7D224E19}"/>
              </a:ext>
            </a:extLst>
          </p:cNvPr>
          <p:cNvCxnSpPr>
            <a:cxnSpLocks/>
            <a:stCxn id="5" idx="2"/>
            <a:endCxn id="9" idx="3"/>
          </p:cNvCxnSpPr>
          <p:nvPr/>
        </p:nvCxnSpPr>
        <p:spPr>
          <a:xfrm>
            <a:off x="1193707" y="2291229"/>
            <a:ext cx="0" cy="133980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20DD929-D7C4-4E82-9BA2-C97BD8A7D7E3}"/>
              </a:ext>
            </a:extLst>
          </p:cNvPr>
          <p:cNvSpPr/>
          <p:nvPr/>
        </p:nvSpPr>
        <p:spPr>
          <a:xfrm>
            <a:off x="1414522" y="29222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星历数据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854DF4-029F-4CC7-84C8-2C8F9FADA289}"/>
              </a:ext>
            </a:extLst>
          </p:cNvPr>
          <p:cNvSpPr/>
          <p:nvPr/>
        </p:nvSpPr>
        <p:spPr>
          <a:xfrm>
            <a:off x="1414522" y="34683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观测数据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1DC9783-9E5D-4CDD-9821-575B82827C0E}"/>
              </a:ext>
            </a:extLst>
          </p:cNvPr>
          <p:cNvSpPr/>
          <p:nvPr/>
        </p:nvSpPr>
        <p:spPr>
          <a:xfrm>
            <a:off x="2585018" y="29222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卫星位置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B6E1EA-730E-49CA-B851-1D1B0809E9D5}"/>
              </a:ext>
            </a:extLst>
          </p:cNvPr>
          <p:cNvSpPr/>
          <p:nvPr/>
        </p:nvSpPr>
        <p:spPr>
          <a:xfrm>
            <a:off x="2585015" y="3468304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单点定位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027B2C-F73B-4BE6-B13E-2352F15461AD}"/>
              </a:ext>
            </a:extLst>
          </p:cNvPr>
          <p:cNvSpPr/>
          <p:nvPr/>
        </p:nvSpPr>
        <p:spPr>
          <a:xfrm>
            <a:off x="3534697" y="2626812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坐标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831F319-C090-4534-9200-21B005C3CE29}"/>
              </a:ext>
            </a:extLst>
          </p:cNvPr>
          <p:cNvSpPr/>
          <p:nvPr/>
        </p:nvSpPr>
        <p:spPr>
          <a:xfrm>
            <a:off x="3534697" y="3715215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单点测速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0633BF-4A84-4DF1-A465-77090C676C73}"/>
              </a:ext>
            </a:extLst>
          </p:cNvPr>
          <p:cNvSpPr/>
          <p:nvPr/>
        </p:nvSpPr>
        <p:spPr>
          <a:xfrm>
            <a:off x="3534697" y="3172912"/>
            <a:ext cx="949679" cy="325462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误差改正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0C283F9-D003-4F45-883B-BEC3BD08FD5B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364200" y="2291229"/>
            <a:ext cx="2" cy="133980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BA44BA1-118E-4B9F-90F3-98F81EF243F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534691" y="2291229"/>
            <a:ext cx="6" cy="134615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67DC4B8B-3286-4B51-8560-A5B1273D14F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16200000" flipH="1">
            <a:off x="836322" y="1608382"/>
            <a:ext cx="714766" cy="4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88FA085C-4230-455B-8535-0DE9FC6FE8DA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2006817" y="437887"/>
            <a:ext cx="714766" cy="2340994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A1DD53F-B55D-4844-A340-A8A6AE4C80F6}"/>
              </a:ext>
            </a:extLst>
          </p:cNvPr>
          <p:cNvSpPr/>
          <p:nvPr/>
        </p:nvSpPr>
        <p:spPr>
          <a:xfrm>
            <a:off x="4800199" y="940258"/>
            <a:ext cx="1709353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算法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相对定位软件</a:t>
            </a:r>
          </a:p>
        </p:txBody>
      </p: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48404073-5995-4A7F-A8EF-0719E3EE844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1421569" y="1023134"/>
            <a:ext cx="714766" cy="1170499"/>
          </a:xfrm>
          <a:prstGeom prst="bentConnector3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98123FB-909B-49FE-AAE1-D1D0AA9E1E2D}"/>
              </a:ext>
            </a:extLst>
          </p:cNvPr>
          <p:cNvSpPr/>
          <p:nvPr/>
        </p:nvSpPr>
        <p:spPr>
          <a:xfrm>
            <a:off x="5180032" y="1965767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站间单差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318F70B-1A5B-4989-891A-E2B4006CAF00}"/>
              </a:ext>
            </a:extLst>
          </p:cNvPr>
          <p:cNvCxnSpPr>
            <a:cxnSpLocks/>
            <a:stCxn id="4" idx="3"/>
            <a:endCxn id="40" idx="1"/>
          </p:cNvCxnSpPr>
          <p:nvPr/>
        </p:nvCxnSpPr>
        <p:spPr>
          <a:xfrm>
            <a:off x="2048379" y="1088270"/>
            <a:ext cx="2751820" cy="14719"/>
          </a:xfrm>
          <a:prstGeom prst="straightConnector1">
            <a:avLst/>
          </a:prstGeom>
          <a:ln w="9525">
            <a:prstDash val="dash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895513A-C930-4D8B-A2F1-91FD85303B71}"/>
              </a:ext>
            </a:extLst>
          </p:cNvPr>
          <p:cNvSpPr/>
          <p:nvPr/>
        </p:nvSpPr>
        <p:spPr>
          <a:xfrm>
            <a:off x="4705184" y="2616885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周跳探测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193D4B-DD0B-42B2-A9E0-2FC101D74F9D}"/>
              </a:ext>
            </a:extLst>
          </p:cNvPr>
          <p:cNvSpPr/>
          <p:nvPr/>
        </p:nvSpPr>
        <p:spPr>
          <a:xfrm>
            <a:off x="4705183" y="3172912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选基准星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B0414AB-AD1C-436B-BB89-44DABBF08682}"/>
              </a:ext>
            </a:extLst>
          </p:cNvPr>
          <p:cNvSpPr txBox="1"/>
          <p:nvPr/>
        </p:nvSpPr>
        <p:spPr>
          <a:xfrm>
            <a:off x="2583628" y="1138320"/>
            <a:ext cx="1994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基站、流动站单点定位</a:t>
            </a: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E14594C8-37DB-4248-A280-47F23EF0440C}"/>
              </a:ext>
            </a:extLst>
          </p:cNvPr>
          <p:cNvCxnSpPr>
            <a:stCxn id="40" idx="2"/>
            <a:endCxn id="52" idx="0"/>
          </p:cNvCxnSpPr>
          <p:nvPr/>
        </p:nvCxnSpPr>
        <p:spPr>
          <a:xfrm rot="5400000">
            <a:off x="5304851" y="1615741"/>
            <a:ext cx="700047" cy="4"/>
          </a:xfrm>
          <a:prstGeom prst="bentConnector3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965DE31-83CE-49A0-A0A5-D627A4534629}"/>
              </a:ext>
            </a:extLst>
          </p:cNvPr>
          <p:cNvCxnSpPr>
            <a:cxnSpLocks/>
            <a:stCxn id="52" idx="2"/>
            <a:endCxn id="73" idx="0"/>
          </p:cNvCxnSpPr>
          <p:nvPr/>
        </p:nvCxnSpPr>
        <p:spPr>
          <a:xfrm>
            <a:off x="5654872" y="2291229"/>
            <a:ext cx="0" cy="141899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2817BF6-9BC3-4FF7-AD25-6A4A59830A14}"/>
              </a:ext>
            </a:extLst>
          </p:cNvPr>
          <p:cNvSpPr/>
          <p:nvPr/>
        </p:nvSpPr>
        <p:spPr>
          <a:xfrm>
            <a:off x="5180032" y="3710228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站星双差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D02F46FC-9EA8-4FC8-830C-51FDCC740076}"/>
              </a:ext>
            </a:extLst>
          </p:cNvPr>
          <p:cNvSpPr/>
          <p:nvPr/>
        </p:nvSpPr>
        <p:spPr>
          <a:xfrm>
            <a:off x="6345640" y="1965767"/>
            <a:ext cx="1001341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模糊度固定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6C5AC984-9612-4BDB-9637-155E46B15C76}"/>
              </a:ext>
            </a:extLst>
          </p:cNvPr>
          <p:cNvSpPr/>
          <p:nvPr/>
        </p:nvSpPr>
        <p:spPr>
          <a:xfrm>
            <a:off x="5896631" y="3172912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最小二乘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0E51D93B-40B6-43C7-8A27-B7C9D3D50A24}"/>
              </a:ext>
            </a:extLst>
          </p:cNvPr>
          <p:cNvSpPr/>
          <p:nvPr/>
        </p:nvSpPr>
        <p:spPr>
          <a:xfrm>
            <a:off x="5844969" y="2625363"/>
            <a:ext cx="1001341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卡尔曼滤波</a:t>
            </a:r>
          </a:p>
        </p:txBody>
      </p: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80A81E0F-38D2-40B9-AE58-525619EFA51B}"/>
              </a:ext>
            </a:extLst>
          </p:cNvPr>
          <p:cNvCxnSpPr>
            <a:stCxn id="73" idx="3"/>
            <a:endCxn id="81" idx="2"/>
          </p:cNvCxnSpPr>
          <p:nvPr/>
        </p:nvCxnSpPr>
        <p:spPr>
          <a:xfrm flipV="1">
            <a:off x="6129711" y="2291229"/>
            <a:ext cx="716600" cy="1581730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318B24D0-C767-4941-82E6-12306BE2D82A}"/>
              </a:ext>
            </a:extLst>
          </p:cNvPr>
          <p:cNvSpPr/>
          <p:nvPr/>
        </p:nvSpPr>
        <p:spPr>
          <a:xfrm>
            <a:off x="7562910" y="1965767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基线向量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847B2C8A-012B-4B45-AC3A-373A986ED072}"/>
              </a:ext>
            </a:extLst>
          </p:cNvPr>
          <p:cNvSpPr/>
          <p:nvPr/>
        </p:nvSpPr>
        <p:spPr>
          <a:xfrm>
            <a:off x="7562909" y="2616885"/>
            <a:ext cx="949679" cy="32546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精确坐标</a:t>
            </a: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4972B9F7-01E7-4EBA-970F-2745D7CBCC99}"/>
              </a:ext>
            </a:extLst>
          </p:cNvPr>
          <p:cNvCxnSpPr>
            <a:stCxn id="81" idx="3"/>
            <a:endCxn id="103" idx="1"/>
          </p:cNvCxnSpPr>
          <p:nvPr/>
        </p:nvCxnSpPr>
        <p:spPr>
          <a:xfrm>
            <a:off x="7346981" y="2128498"/>
            <a:ext cx="21592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C554C46-41C4-4238-906A-90D36C14B526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 flipH="1">
            <a:off x="8037749" y="2291229"/>
            <a:ext cx="1" cy="3256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3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268B26-EAD9-43A6-8842-0EAD972B4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3" y="0"/>
            <a:ext cx="11493293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03882A5-43F7-4E14-BFAF-0D2232243E0A}"/>
              </a:ext>
            </a:extLst>
          </p:cNvPr>
          <p:cNvSpPr txBox="1"/>
          <p:nvPr/>
        </p:nvSpPr>
        <p:spPr>
          <a:xfrm>
            <a:off x="7857150" y="5307978"/>
            <a:ext cx="87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8766B7-DA30-48CC-81C8-E9FFB4F5C1D1}"/>
              </a:ext>
            </a:extLst>
          </p:cNvPr>
          <p:cNvSpPr txBox="1"/>
          <p:nvPr/>
        </p:nvSpPr>
        <p:spPr>
          <a:xfrm>
            <a:off x="3241219" y="5409083"/>
            <a:ext cx="87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8A522CC-C282-4271-97FD-EEC28A9B9E6C}"/>
              </a:ext>
            </a:extLst>
          </p:cNvPr>
          <p:cNvSpPr txBox="1"/>
          <p:nvPr/>
        </p:nvSpPr>
        <p:spPr>
          <a:xfrm>
            <a:off x="587407" y="1777753"/>
            <a:ext cx="87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1525AB-1D47-4D6A-AA3D-F972421D49C7}"/>
              </a:ext>
            </a:extLst>
          </p:cNvPr>
          <p:cNvSpPr txBox="1"/>
          <p:nvPr/>
        </p:nvSpPr>
        <p:spPr>
          <a:xfrm>
            <a:off x="11018761" y="1682864"/>
            <a:ext cx="87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123A7CE-40F2-4921-B706-C06EC36BA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0522"/>
              </p:ext>
            </p:extLst>
          </p:nvPr>
        </p:nvGraphicFramePr>
        <p:xfrm>
          <a:off x="2813050" y="1974850"/>
          <a:ext cx="11477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" name="Equation" r:id="rId4" imgW="1434960" imgH="1295280" progId="Equation.DSMT4">
                  <p:embed/>
                </p:oleObj>
              </mc:Choice>
              <mc:Fallback>
                <p:oleObj name="Equation" r:id="rId4" imgW="143496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3050" y="1974850"/>
                        <a:ext cx="1147763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8928597-B520-42A1-BE31-AD884C45D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119126"/>
              </p:ext>
            </p:extLst>
          </p:nvPr>
        </p:nvGraphicFramePr>
        <p:xfrm>
          <a:off x="1699465" y="3655079"/>
          <a:ext cx="1049338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4" name="Equation" r:id="rId6" imgW="1422360" imgH="1295280" progId="Equation.DSMT4">
                  <p:embed/>
                </p:oleObj>
              </mc:Choice>
              <mc:Fallback>
                <p:oleObj name="Equation" r:id="rId6" imgW="142236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99465" y="3655079"/>
                        <a:ext cx="1049338" cy="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7A8A451-584F-4A0E-B228-361029B7F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606367"/>
              </p:ext>
            </p:extLst>
          </p:nvPr>
        </p:nvGraphicFramePr>
        <p:xfrm>
          <a:off x="9551988" y="3754438"/>
          <a:ext cx="11461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Equation" r:id="rId8" imgW="1434960" imgH="1295280" progId="Equation.DSMT4">
                  <p:embed/>
                </p:oleObj>
              </mc:Choice>
              <mc:Fallback>
                <p:oleObj name="Equation" r:id="rId8" imgW="143496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51988" y="3754438"/>
                        <a:ext cx="1146175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9B755CB-872F-4B2C-9072-A92B5A143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834082"/>
              </p:ext>
            </p:extLst>
          </p:nvPr>
        </p:nvGraphicFramePr>
        <p:xfrm>
          <a:off x="8305800" y="1778000"/>
          <a:ext cx="113982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Equation" r:id="rId10" imgW="1422360" imgH="1295280" progId="Equation.DSMT4">
                  <p:embed/>
                </p:oleObj>
              </mc:Choice>
              <mc:Fallback>
                <p:oleObj name="Equation" r:id="rId10" imgW="142236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05800" y="1778000"/>
                        <a:ext cx="1139825" cy="103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462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" name="组合 2047">
            <a:extLst>
              <a:ext uri="{FF2B5EF4-FFF2-40B4-BE49-F238E27FC236}">
                <a16:creationId xmlns:a16="http://schemas.microsoft.com/office/drawing/2014/main" id="{E9425D82-30CD-49DE-8C21-118BA2EE978C}"/>
              </a:ext>
            </a:extLst>
          </p:cNvPr>
          <p:cNvGrpSpPr/>
          <p:nvPr/>
        </p:nvGrpSpPr>
        <p:grpSpPr>
          <a:xfrm>
            <a:off x="3416407" y="1230017"/>
            <a:ext cx="4709886" cy="4574631"/>
            <a:chOff x="3518605" y="778196"/>
            <a:chExt cx="4709886" cy="4574631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8D42E1A-E0E4-4D15-8271-437E3096DF74}"/>
                </a:ext>
              </a:extLst>
            </p:cNvPr>
            <p:cNvGrpSpPr/>
            <p:nvPr/>
          </p:nvGrpSpPr>
          <p:grpSpPr>
            <a:xfrm>
              <a:off x="3518605" y="778196"/>
              <a:ext cx="4709886" cy="3835939"/>
              <a:chOff x="3061405" y="331753"/>
              <a:chExt cx="4709886" cy="383593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63FE97B7-D622-4682-9B0C-6B65B0E268F2}"/>
                  </a:ext>
                </a:extLst>
              </p:cNvPr>
              <p:cNvGrpSpPr/>
              <p:nvPr/>
            </p:nvGrpSpPr>
            <p:grpSpPr>
              <a:xfrm>
                <a:off x="3061405" y="331753"/>
                <a:ext cx="4709886" cy="3097247"/>
                <a:chOff x="3061405" y="331753"/>
                <a:chExt cx="4709886" cy="3097247"/>
              </a:xfrm>
            </p:grpSpPr>
            <p:grpSp>
              <p:nvGrpSpPr>
                <p:cNvPr id="44" name="组合 43">
                  <a:extLst>
                    <a:ext uri="{FF2B5EF4-FFF2-40B4-BE49-F238E27FC236}">
                      <a16:creationId xmlns:a16="http://schemas.microsoft.com/office/drawing/2014/main" id="{153BB965-B661-46A7-A1A7-192DB9B6CF90}"/>
                    </a:ext>
                  </a:extLst>
                </p:cNvPr>
                <p:cNvGrpSpPr/>
                <p:nvPr/>
              </p:nvGrpSpPr>
              <p:grpSpPr>
                <a:xfrm>
                  <a:off x="3061405" y="331753"/>
                  <a:ext cx="4709886" cy="2285234"/>
                  <a:chOff x="3061405" y="331753"/>
                  <a:chExt cx="4709886" cy="2285234"/>
                </a:xfrm>
              </p:grpSpPr>
              <p:grpSp>
                <p:nvGrpSpPr>
                  <p:cNvPr id="35" name="组合 34">
                    <a:extLst>
                      <a:ext uri="{FF2B5EF4-FFF2-40B4-BE49-F238E27FC236}">
                        <a16:creationId xmlns:a16="http://schemas.microsoft.com/office/drawing/2014/main" id="{B527981C-AA88-417A-86C7-C7DC92DC46B1}"/>
                      </a:ext>
                    </a:extLst>
                  </p:cNvPr>
                  <p:cNvGrpSpPr/>
                  <p:nvPr/>
                </p:nvGrpSpPr>
                <p:grpSpPr>
                  <a:xfrm>
                    <a:off x="3061405" y="331753"/>
                    <a:ext cx="4709886" cy="1551395"/>
                    <a:chOff x="357961" y="1728201"/>
                    <a:chExt cx="4709886" cy="1551395"/>
                  </a:xfrm>
                </p:grpSpPr>
                <p:grpSp>
                  <p:nvGrpSpPr>
                    <p:cNvPr id="24" name="组合 23">
                      <a:extLst>
                        <a:ext uri="{FF2B5EF4-FFF2-40B4-BE49-F238E27FC236}">
                          <a16:creationId xmlns:a16="http://schemas.microsoft.com/office/drawing/2014/main" id="{E303EFAF-348C-4A70-B691-0366CE3077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7961" y="1728201"/>
                      <a:ext cx="4709886" cy="516888"/>
                      <a:chOff x="119743" y="1980452"/>
                      <a:chExt cx="4709886" cy="516888"/>
                    </a:xfrm>
                  </p:grpSpPr>
                  <p:grpSp>
                    <p:nvGrpSpPr>
                      <p:cNvPr id="11" name="组合 10">
                        <a:extLst>
                          <a:ext uri="{FF2B5EF4-FFF2-40B4-BE49-F238E27FC236}">
                            <a16:creationId xmlns:a16="http://schemas.microsoft.com/office/drawing/2014/main" id="{A641501C-4319-4211-B6CC-4A3E24466B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9743" y="1980452"/>
                        <a:ext cx="4709886" cy="502958"/>
                        <a:chOff x="594819" y="2096664"/>
                        <a:chExt cx="1865088" cy="502958"/>
                      </a:xfrm>
                    </p:grpSpPr>
                    <p:grpSp>
                      <p:nvGrpSpPr>
                        <p:cNvPr id="3" name="组合 2">
                          <a:extLst>
                            <a:ext uri="{FF2B5EF4-FFF2-40B4-BE49-F238E27FC236}">
                              <a16:creationId xmlns:a16="http://schemas.microsoft.com/office/drawing/2014/main" id="{1DFEA053-8E10-42F7-838C-2F6B39A941C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94819" y="2096664"/>
                          <a:ext cx="1865088" cy="502958"/>
                          <a:chOff x="2420257" y="2442029"/>
                          <a:chExt cx="1865088" cy="502958"/>
                        </a:xfrm>
                      </p:grpSpPr>
                      <p:sp>
                        <p:nvSpPr>
                          <p:cNvPr id="2" name="矩形 1">
                            <a:extLst>
                              <a:ext uri="{FF2B5EF4-FFF2-40B4-BE49-F238E27FC236}">
                                <a16:creationId xmlns:a16="http://schemas.microsoft.com/office/drawing/2014/main" id="{1697ADA1-623B-4C7D-8D83-932EE36B23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420257" y="2442029"/>
                            <a:ext cx="932544" cy="502958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zh-CN" altLang="en-US" sz="1400" b="1" dirty="0">
                                <a:solidFill>
                                  <a:schemeClr val="tx1"/>
                                </a:solidFill>
                                <a:latin typeface="宋体" panose="02010600030101010101" pitchFamily="2" charset="-122"/>
                                <a:ea typeface="宋体" panose="02010600030101010101" pitchFamily="2" charset="-122"/>
                              </a:rPr>
                              <a:t>先验信息</a:t>
                            </a:r>
                            <a:endParaRPr lang="en-US" altLang="zh-CN" sz="14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endParaRPr>
                          </a:p>
                          <a:p>
                            <a:pPr algn="ctr"/>
                            <a:endParaRPr lang="zh-CN" altLang="en-US" sz="14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17" name="矩形 16">
                            <a:extLst>
                              <a:ext uri="{FF2B5EF4-FFF2-40B4-BE49-F238E27FC236}">
                                <a16:creationId xmlns:a16="http://schemas.microsoft.com/office/drawing/2014/main" id="{1710609E-DC13-4B15-A98C-9B62A6397C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352801" y="2442029"/>
                            <a:ext cx="932544" cy="502958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zh-CN" altLang="en-US" sz="1400" b="1" dirty="0">
                                <a:solidFill>
                                  <a:schemeClr val="tx1"/>
                                </a:solidFill>
                                <a:latin typeface="宋体" panose="02010600030101010101" pitchFamily="2" charset="-122"/>
                                <a:ea typeface="宋体" panose="02010600030101010101" pitchFamily="2" charset="-122"/>
                              </a:rPr>
                              <a:t>初始状态</a:t>
                            </a:r>
                            <a:endParaRPr lang="en-US" altLang="zh-CN" sz="12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endParaRPr>
                          </a:p>
                          <a:p>
                            <a:pPr algn="ctr"/>
                            <a:endParaRPr lang="zh-CN" altLang="en-US" sz="1200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</p:grpSp>
                    <p:cxnSp>
                      <p:nvCxnSpPr>
                        <p:cNvPr id="10" name="直接连接符 9">
                          <a:extLst>
                            <a:ext uri="{FF2B5EF4-FFF2-40B4-BE49-F238E27FC236}">
                              <a16:creationId xmlns:a16="http://schemas.microsoft.com/office/drawing/2014/main" id="{2DEC9C60-FA7B-4C4A-A910-F28CB3CBD440}"/>
                            </a:ext>
                          </a:extLst>
                        </p:cNvPr>
                        <p:cNvCxnSpPr>
                          <a:cxnSpLocks/>
                          <a:stCxn id="2" idx="1"/>
                          <a:endCxn id="17" idx="3"/>
                        </p:cNvCxnSpPr>
                        <p:nvPr/>
                      </p:nvCxnSpPr>
                      <p:spPr>
                        <a:xfrm>
                          <a:off x="594819" y="2348143"/>
                          <a:ext cx="1865088" cy="0"/>
                        </a:xfrm>
                        <a:prstGeom prst="line">
                          <a:avLst/>
                        </a:prstGeom>
                        <a:ln>
                          <a:prstDash val="dashDot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aphicFrame>
                    <p:nvGraphicFrame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5327BD1-8A26-48A4-9A45-8ABEEB0B461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3236144707"/>
                          </p:ext>
                        </p:extLst>
                      </p:nvPr>
                    </p:nvGraphicFramePr>
                    <p:xfrm>
                      <a:off x="3429907" y="2254810"/>
                      <a:ext cx="444500" cy="22860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2221" name="Equation" r:id="rId3" imgW="444240" imgH="228600" progId="Equation.DSMT4">
                              <p:embed/>
                            </p:oleObj>
                          </mc:Choice>
                          <mc:Fallback>
                            <p:oleObj name="Equation" r:id="rId3" imgW="444240" imgH="228600" progId="Equation.DSMT4">
                              <p:embed/>
                              <p:pic>
                                <p:nvPicPr>
                                  <p:cNvPr id="19" name="对象 18">
                                    <a:extLst>
                                      <a:ext uri="{FF2B5EF4-FFF2-40B4-BE49-F238E27FC236}">
                                        <a16:creationId xmlns:a16="http://schemas.microsoft.com/office/drawing/2014/main" id="{F9F93D75-DA14-4C44-A9BF-502184CB68CA}"/>
                                      </a:ext>
                                    </a:extLst>
                                  </p:cNvPr>
                                  <p:cNvPicPr/>
                                  <p:nvPr/>
                                </p:nvPicPr>
                                <p:blipFill>
                                  <a:blip r:embed="rId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429907" y="2254810"/>
                                    <a:ext cx="444500" cy="228600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C93E6479-38E7-4611-B92A-2F75C2A0BEFC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99155155"/>
                          </p:ext>
                        </p:extLst>
                      </p:nvPr>
                    </p:nvGraphicFramePr>
                    <p:xfrm>
                      <a:off x="376465" y="2256040"/>
                      <a:ext cx="1841500" cy="24130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2222" name="Equation" r:id="rId5" imgW="1841400" imgH="241200" progId="Equation.DSMT4">
                              <p:embed/>
                            </p:oleObj>
                          </mc:Choice>
                          <mc:Fallback>
                            <p:oleObj name="Equation" r:id="rId5" imgW="1841400" imgH="241200" progId="Equation.DSMT4">
                              <p:embed/>
                              <p:pic>
                                <p:nvPicPr>
                                  <p:cNvPr id="23" name="对象 22">
                                    <a:extLst>
                                      <a:ext uri="{FF2B5EF4-FFF2-40B4-BE49-F238E27FC236}">
                                        <a16:creationId xmlns:a16="http://schemas.microsoft.com/office/drawing/2014/main" id="{F79DE78C-A28B-41E7-8D37-11ED8BC2BBFB}"/>
                                      </a:ext>
                                    </a:extLst>
                                  </p:cNvPr>
                                  <p:cNvPicPr/>
                                  <p:nvPr/>
                                </p:nvPicPr>
                                <p:blipFill>
                                  <a:blip r:embed="rId6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76465" y="2256040"/>
                                    <a:ext cx="1841500" cy="241300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grpSp>
                  <p:nvGrpSpPr>
                    <p:cNvPr id="29" name="组合 28">
                      <a:extLst>
                        <a:ext uri="{FF2B5EF4-FFF2-40B4-BE49-F238E27FC236}">
                          <a16:creationId xmlns:a16="http://schemas.microsoft.com/office/drawing/2014/main" id="{741AC032-49F8-44D0-994B-AAA3AA6A5C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57056" y="2776638"/>
                      <a:ext cx="3511696" cy="502958"/>
                      <a:chOff x="1067225" y="3081438"/>
                      <a:chExt cx="3511696" cy="502958"/>
                    </a:xfrm>
                  </p:grpSpPr>
                  <p:sp>
                    <p:nvSpPr>
                      <p:cNvPr id="28" name="矩形 27">
                        <a:extLst>
                          <a:ext uri="{FF2B5EF4-FFF2-40B4-BE49-F238E27FC236}">
                            <a16:creationId xmlns:a16="http://schemas.microsoft.com/office/drawing/2014/main" id="{553DFC83-47DB-4A9A-BC1A-10C202F572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225" y="3081438"/>
                        <a:ext cx="3511696" cy="50295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p:txBody>
                  </p:sp>
                  <p:graphicFrame>
                    <p:nvGraphicFrame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62A987CD-0F53-4DA6-8605-DD8E48BB3FC2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1897228217"/>
                          </p:ext>
                        </p:extLst>
                      </p:nvPr>
                    </p:nvGraphicFramePr>
                    <p:xfrm>
                      <a:off x="2219823" y="3200562"/>
                      <a:ext cx="1206500" cy="27940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2223" name="Equation" r:id="rId7" imgW="1206360" imgH="279360" progId="Equation.DSMT4">
                              <p:embed/>
                            </p:oleObj>
                          </mc:Choice>
                          <mc:Fallback>
                            <p:oleObj name="Equation" r:id="rId7" imgW="1206360" imgH="279360" progId="Equation.DSMT4">
                              <p:embed/>
                              <p:pic>
                                <p:nvPicPr>
                                  <p:cNvPr id="0" name=""/>
                                  <p:cNvPicPr/>
                                  <p:nvPr/>
                                </p:nvPicPr>
                                <p:blipFill>
                                  <a:blip r:embed="rId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2219823" y="3200562"/>
                                    <a:ext cx="1206500" cy="279400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p:grpSp>
                <p:cxnSp>
                  <p:nvCxnSpPr>
                    <p:cNvPr id="31" name="直接箭头连接符 30">
                      <a:extLst>
                        <a:ext uri="{FF2B5EF4-FFF2-40B4-BE49-F238E27FC236}">
                          <a16:creationId xmlns:a16="http://schemas.microsoft.com/office/drawing/2014/main" id="{253A7C8D-EAA1-4D35-9373-262A8E017482}"/>
                        </a:ext>
                      </a:extLst>
                    </p:cNvPr>
                    <p:cNvCxnSpPr>
                      <a:stCxn id="2" idx="2"/>
                    </p:cNvCxnSpPr>
                    <p:nvPr/>
                  </p:nvCxnSpPr>
                  <p:spPr>
                    <a:xfrm flipH="1">
                      <a:off x="1531344" y="2231159"/>
                      <a:ext cx="4089" cy="545479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直接箭头连接符 32">
                      <a:extLst>
                        <a:ext uri="{FF2B5EF4-FFF2-40B4-BE49-F238E27FC236}">
                          <a16:creationId xmlns:a16="http://schemas.microsoft.com/office/drawing/2014/main" id="{D4288149-89C2-4866-907B-45315EC4FFCA}"/>
                        </a:ext>
                      </a:extLst>
                    </p:cNvPr>
                    <p:cNvCxnSpPr>
                      <a:cxnSpLocks/>
                      <a:stCxn id="25" idx="2"/>
                    </p:cNvCxnSpPr>
                    <p:nvPr/>
                  </p:nvCxnSpPr>
                  <p:spPr>
                    <a:xfrm>
                      <a:off x="3890375" y="2231159"/>
                      <a:ext cx="0" cy="545479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7238C171-4DD0-4012-AF94-7FE995E32C1A}"/>
                      </a:ext>
                    </a:extLst>
                  </p:cNvPr>
                  <p:cNvSpPr/>
                  <p:nvPr/>
                </p:nvSpPr>
                <p:spPr>
                  <a:xfrm>
                    <a:off x="3660500" y="2114029"/>
                    <a:ext cx="3511696" cy="502958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6" name="对象 35">
                    <a:extLst>
                      <a:ext uri="{FF2B5EF4-FFF2-40B4-BE49-F238E27FC236}">
                        <a16:creationId xmlns:a16="http://schemas.microsoft.com/office/drawing/2014/main" id="{22F26EC5-D5A3-4393-9515-5D237906A33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482800706"/>
                      </p:ext>
                    </p:extLst>
                  </p:nvPr>
                </p:nvGraphicFramePr>
                <p:xfrm>
                  <a:off x="4235248" y="2232158"/>
                  <a:ext cx="2362200" cy="2667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24" name="Equation" r:id="rId9" imgW="2361960" imgH="266400" progId="Equation.DSMT4">
                          <p:embed/>
                        </p:oleObj>
                      </mc:Choice>
                      <mc:Fallback>
                        <p:oleObj name="Equation" r:id="rId9" imgW="2361960" imgH="26640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235248" y="2232158"/>
                                <a:ext cx="2362200" cy="2667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cxnSp>
                <p:nvCxnSpPr>
                  <p:cNvPr id="39" name="直接箭头连接符 38">
                    <a:extLst>
                      <a:ext uri="{FF2B5EF4-FFF2-40B4-BE49-F238E27FC236}">
                        <a16:creationId xmlns:a16="http://schemas.microsoft.com/office/drawing/2014/main" id="{6E17ECEE-E761-41A4-BB01-D753EDDFF0E2}"/>
                      </a:ext>
                    </a:extLst>
                  </p:cNvPr>
                  <p:cNvCxnSpPr>
                    <a:cxnSpLocks/>
                    <a:stCxn id="28" idx="2"/>
                    <a:endCxn id="37" idx="0"/>
                  </p:cNvCxnSpPr>
                  <p:nvPr/>
                </p:nvCxnSpPr>
                <p:spPr>
                  <a:xfrm>
                    <a:off x="5416348" y="1883148"/>
                    <a:ext cx="0" cy="23088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CA725435-FEC0-4491-8042-E54AFC42A38E}"/>
                    </a:ext>
                  </a:extLst>
                </p:cNvPr>
                <p:cNvGrpSpPr/>
                <p:nvPr/>
              </p:nvGrpSpPr>
              <p:grpSpPr>
                <a:xfrm>
                  <a:off x="3660500" y="2926042"/>
                  <a:ext cx="3511696" cy="502958"/>
                  <a:chOff x="3660500" y="2926042"/>
                  <a:chExt cx="3511696" cy="502958"/>
                </a:xfrm>
              </p:grpSpPr>
              <p:sp>
                <p:nvSpPr>
                  <p:cNvPr id="43" name="矩形 42">
                    <a:extLst>
                      <a:ext uri="{FF2B5EF4-FFF2-40B4-BE49-F238E27FC236}">
                        <a16:creationId xmlns:a16="http://schemas.microsoft.com/office/drawing/2014/main" id="{55218BC2-A615-4984-AE4E-0E2C8E80FAA4}"/>
                      </a:ext>
                    </a:extLst>
                  </p:cNvPr>
                  <p:cNvSpPr/>
                  <p:nvPr/>
                </p:nvSpPr>
                <p:spPr>
                  <a:xfrm>
                    <a:off x="3660500" y="2926042"/>
                    <a:ext cx="3511696" cy="502958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2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45" name="对象 44">
                    <a:extLst>
                      <a:ext uri="{FF2B5EF4-FFF2-40B4-BE49-F238E27FC236}">
                        <a16:creationId xmlns:a16="http://schemas.microsoft.com/office/drawing/2014/main" id="{4722E668-2A8E-4B03-94AF-155346FC617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92715208"/>
                      </p:ext>
                    </p:extLst>
                  </p:nvPr>
                </p:nvGraphicFramePr>
                <p:xfrm>
                  <a:off x="4311448" y="3018771"/>
                  <a:ext cx="2209800" cy="3175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225" name="Equation" r:id="rId11" imgW="2209680" imgH="317160" progId="Equation.DSMT4">
                          <p:embed/>
                        </p:oleObj>
                      </mc:Choice>
                      <mc:Fallback>
                        <p:oleObj name="Equation" r:id="rId11" imgW="2209680" imgH="31716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311448" y="3018771"/>
                                <a:ext cx="2209800" cy="3175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cxnSp>
              <p:nvCxnSpPr>
                <p:cNvPr id="48" name="直接箭头连接符 47">
                  <a:extLst>
                    <a:ext uri="{FF2B5EF4-FFF2-40B4-BE49-F238E27FC236}">
                      <a16:creationId xmlns:a16="http://schemas.microsoft.com/office/drawing/2014/main" id="{A71C4DA9-E2D4-48AF-998A-E921A16C6DD1}"/>
                    </a:ext>
                  </a:extLst>
                </p:cNvPr>
                <p:cNvCxnSpPr>
                  <a:cxnSpLocks/>
                  <a:stCxn id="37" idx="2"/>
                  <a:endCxn id="43" idx="0"/>
                </p:cNvCxnSpPr>
                <p:nvPr/>
              </p:nvCxnSpPr>
              <p:spPr>
                <a:xfrm>
                  <a:off x="5416348" y="2616987"/>
                  <a:ext cx="0" cy="30905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A1920C30-6684-4496-B6E7-3FABC1D4122E}"/>
                  </a:ext>
                </a:extLst>
              </p:cNvPr>
              <p:cNvSpPr/>
              <p:nvPr/>
            </p:nvSpPr>
            <p:spPr>
              <a:xfrm>
                <a:off x="3660500" y="3664734"/>
                <a:ext cx="3511696" cy="50295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51" name="对象 50">
                <a:extLst>
                  <a:ext uri="{FF2B5EF4-FFF2-40B4-BE49-F238E27FC236}">
                    <a16:creationId xmlns:a16="http://schemas.microsoft.com/office/drawing/2014/main" id="{2C53AC4B-BFD6-498A-9ACF-97A80F31F7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5927284"/>
                  </p:ext>
                </p:extLst>
              </p:nvPr>
            </p:nvGraphicFramePr>
            <p:xfrm>
              <a:off x="4355898" y="3751113"/>
              <a:ext cx="21209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6" name="Equation" r:id="rId13" imgW="2120760" imgH="330120" progId="Equation.DSMT4">
                      <p:embed/>
                    </p:oleObj>
                  </mc:Choice>
                  <mc:Fallback>
                    <p:oleObj name="Equation" r:id="rId13" imgW="212076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355898" y="3751113"/>
                            <a:ext cx="21209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A39601B2-09BC-4E84-8B38-57AF3867DD88}"/>
                  </a:ext>
                </a:extLst>
              </p:cNvPr>
              <p:cNvCxnSpPr>
                <a:cxnSpLocks/>
                <a:stCxn id="43" idx="2"/>
                <a:endCxn id="53" idx="0"/>
              </p:cNvCxnSpPr>
              <p:nvPr/>
            </p:nvCxnSpPr>
            <p:spPr>
              <a:xfrm>
                <a:off x="5416348" y="3429000"/>
                <a:ext cx="0" cy="2357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D391553-5560-4CEC-B646-2EFD4445FB84}"/>
                </a:ext>
              </a:extLst>
            </p:cNvPr>
            <p:cNvSpPr/>
            <p:nvPr/>
          </p:nvSpPr>
          <p:spPr>
            <a:xfrm>
              <a:off x="4117700" y="4849869"/>
              <a:ext cx="3511696" cy="5029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8" name="对象 57">
              <a:extLst>
                <a:ext uri="{FF2B5EF4-FFF2-40B4-BE49-F238E27FC236}">
                  <a16:creationId xmlns:a16="http://schemas.microsoft.com/office/drawing/2014/main" id="{1628795C-AC83-40F2-975B-1E66CE48B6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764808"/>
                </p:ext>
              </p:extLst>
            </p:nvPr>
          </p:nvGraphicFramePr>
          <p:xfrm>
            <a:off x="4399561" y="4955204"/>
            <a:ext cx="2946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7" name="Equation" r:id="rId15" imgW="2946240" imgH="291960" progId="Equation.DSMT4">
                    <p:embed/>
                  </p:oleObj>
                </mc:Choice>
                <mc:Fallback>
                  <p:oleObj name="Equation" r:id="rId15" imgW="294624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99561" y="4955204"/>
                          <a:ext cx="29464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F7265B29-C923-408F-BC7E-A483A5B6FA74}"/>
                </a:ext>
              </a:extLst>
            </p:cNvPr>
            <p:cNvCxnSpPr>
              <a:cxnSpLocks/>
              <a:stCxn id="53" idx="2"/>
              <a:endCxn id="59" idx="0"/>
            </p:cNvCxnSpPr>
            <p:nvPr/>
          </p:nvCxnSpPr>
          <p:spPr>
            <a:xfrm>
              <a:off x="5873548" y="4614135"/>
              <a:ext cx="0" cy="2357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文本框 2048">
            <a:extLst>
              <a:ext uri="{FF2B5EF4-FFF2-40B4-BE49-F238E27FC236}">
                <a16:creationId xmlns:a16="http://schemas.microsoft.com/office/drawing/2014/main" id="{69BCA083-33BA-477C-B9AB-1E684ECCFF55}"/>
              </a:ext>
            </a:extLst>
          </p:cNvPr>
          <p:cNvSpPr txBox="1"/>
          <p:nvPr/>
        </p:nvSpPr>
        <p:spPr>
          <a:xfrm>
            <a:off x="1871626" y="2397578"/>
            <a:ext cx="1461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误差状态的预测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051" name="连接符: 肘形 2050">
            <a:extLst>
              <a:ext uri="{FF2B5EF4-FFF2-40B4-BE49-F238E27FC236}">
                <a16:creationId xmlns:a16="http://schemas.microsoft.com/office/drawing/2014/main" id="{3D65F31E-9D42-4BC2-8670-38010024FF0D}"/>
              </a:ext>
            </a:extLst>
          </p:cNvPr>
          <p:cNvCxnSpPr>
            <a:stCxn id="59" idx="1"/>
            <a:endCxn id="28" idx="1"/>
          </p:cNvCxnSpPr>
          <p:nvPr/>
        </p:nvCxnSpPr>
        <p:spPr>
          <a:xfrm rot="10800000">
            <a:off x="4015502" y="2529933"/>
            <a:ext cx="12700" cy="3023236"/>
          </a:xfrm>
          <a:prstGeom prst="bentConnector3">
            <a:avLst>
              <a:gd name="adj1" fmla="val 48678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9A85C720-4711-4F88-8EC7-4A862333DB72}"/>
              </a:ext>
            </a:extLst>
          </p:cNvPr>
          <p:cNvSpPr txBox="1"/>
          <p:nvPr/>
        </p:nvSpPr>
        <p:spPr>
          <a:xfrm>
            <a:off x="1871626" y="3120123"/>
            <a:ext cx="1461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误差协方差预测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991B939-716A-4700-9F7D-83529005B65E}"/>
              </a:ext>
            </a:extLst>
          </p:cNvPr>
          <p:cNvSpPr txBox="1"/>
          <p:nvPr/>
        </p:nvSpPr>
        <p:spPr>
          <a:xfrm>
            <a:off x="1871626" y="3937285"/>
            <a:ext cx="1461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计算卡尔曼增益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2727652-9C43-446C-ACCC-0FFAB74E6CB7}"/>
              </a:ext>
            </a:extLst>
          </p:cNvPr>
          <p:cNvSpPr txBox="1"/>
          <p:nvPr/>
        </p:nvSpPr>
        <p:spPr>
          <a:xfrm>
            <a:off x="1870833" y="4649377"/>
            <a:ext cx="1582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更新误差状态估计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B41CAA8-A83D-46B4-85A6-BE0A52CA8F43}"/>
              </a:ext>
            </a:extLst>
          </p:cNvPr>
          <p:cNvSpPr txBox="1"/>
          <p:nvPr/>
        </p:nvSpPr>
        <p:spPr>
          <a:xfrm>
            <a:off x="1870833" y="5407025"/>
            <a:ext cx="1582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更新误差协方差</a:t>
            </a:r>
          </a:p>
        </p:txBody>
      </p:sp>
      <p:cxnSp>
        <p:nvCxnSpPr>
          <p:cNvPr id="2054" name="直接连接符 2053">
            <a:extLst>
              <a:ext uri="{FF2B5EF4-FFF2-40B4-BE49-F238E27FC236}">
                <a16:creationId xmlns:a16="http://schemas.microsoft.com/office/drawing/2014/main" id="{7CAE9AE7-3D35-4367-810D-D5F0B5B003F2}"/>
              </a:ext>
            </a:extLst>
          </p:cNvPr>
          <p:cNvCxnSpPr/>
          <p:nvPr/>
        </p:nvCxnSpPr>
        <p:spPr>
          <a:xfrm>
            <a:off x="2000250" y="3632856"/>
            <a:ext cx="7525763" cy="0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8" name="矩形: 折角 2057">
            <a:extLst>
              <a:ext uri="{FF2B5EF4-FFF2-40B4-BE49-F238E27FC236}">
                <a16:creationId xmlns:a16="http://schemas.microsoft.com/office/drawing/2014/main" id="{F237B0F2-88F9-469A-8429-8F97025D6E02}"/>
              </a:ext>
            </a:extLst>
          </p:cNvPr>
          <p:cNvSpPr/>
          <p:nvPr/>
        </p:nvSpPr>
        <p:spPr>
          <a:xfrm>
            <a:off x="7978006" y="3012031"/>
            <a:ext cx="1435184" cy="502958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时间预测</a:t>
            </a:r>
          </a:p>
        </p:txBody>
      </p:sp>
      <p:sp>
        <p:nvSpPr>
          <p:cNvPr id="79" name="矩形: 折角 78">
            <a:extLst>
              <a:ext uri="{FF2B5EF4-FFF2-40B4-BE49-F238E27FC236}">
                <a16:creationId xmlns:a16="http://schemas.microsoft.com/office/drawing/2014/main" id="{76007C3A-45F4-406F-A8C6-3ACDA41F8749}"/>
              </a:ext>
            </a:extLst>
          </p:cNvPr>
          <p:cNvSpPr/>
          <p:nvPr/>
        </p:nvSpPr>
        <p:spPr>
          <a:xfrm>
            <a:off x="7978006" y="3824305"/>
            <a:ext cx="1435184" cy="502958"/>
          </a:xfrm>
          <a:prstGeom prst="foldedCorne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测量更新</a:t>
            </a:r>
          </a:p>
        </p:txBody>
      </p:sp>
    </p:spTree>
    <p:extLst>
      <p:ext uri="{BB962C8B-B14F-4D97-AF65-F5344CB8AC3E}">
        <p14:creationId xmlns:p14="http://schemas.microsoft.com/office/powerpoint/2010/main" val="269873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49A45763-C91E-456C-8CF7-F7A53876C90E}"/>
              </a:ext>
            </a:extLst>
          </p:cNvPr>
          <p:cNvGrpSpPr/>
          <p:nvPr/>
        </p:nvGrpSpPr>
        <p:grpSpPr>
          <a:xfrm>
            <a:off x="2270085" y="137426"/>
            <a:ext cx="7840213" cy="6583147"/>
            <a:chOff x="2270085" y="137426"/>
            <a:chExt cx="7840213" cy="6583147"/>
          </a:xfrm>
        </p:grpSpPr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CD73BE81-A115-44EA-B5A3-8619D070326A}"/>
                </a:ext>
              </a:extLst>
            </p:cNvPr>
            <p:cNvGrpSpPr/>
            <p:nvPr/>
          </p:nvGrpSpPr>
          <p:grpSpPr>
            <a:xfrm>
              <a:off x="2270085" y="137426"/>
              <a:ext cx="7840213" cy="6583147"/>
              <a:chOff x="2230614" y="0"/>
              <a:chExt cx="7840213" cy="6583147"/>
            </a:xfrm>
          </p:grpSpPr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86B661A7-3D27-4D97-8737-81EF139B1BBE}"/>
                  </a:ext>
                </a:extLst>
              </p:cNvPr>
              <p:cNvGrpSpPr/>
              <p:nvPr/>
            </p:nvGrpSpPr>
            <p:grpSpPr>
              <a:xfrm>
                <a:off x="2230614" y="0"/>
                <a:ext cx="7840213" cy="6583147"/>
                <a:chOff x="2576978" y="202366"/>
                <a:chExt cx="7840213" cy="6583147"/>
              </a:xfrm>
            </p:grpSpPr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E878CC14-6045-46E4-A944-211838FF4C80}"/>
                    </a:ext>
                  </a:extLst>
                </p:cNvPr>
                <p:cNvGrpSpPr/>
                <p:nvPr/>
              </p:nvGrpSpPr>
              <p:grpSpPr>
                <a:xfrm>
                  <a:off x="2576978" y="202366"/>
                  <a:ext cx="7769151" cy="6583147"/>
                  <a:chOff x="1541555" y="202366"/>
                  <a:chExt cx="7769151" cy="6583147"/>
                </a:xfrm>
              </p:grpSpPr>
              <p:grpSp>
                <p:nvGrpSpPr>
                  <p:cNvPr id="65" name="组合 64">
                    <a:extLst>
                      <a:ext uri="{FF2B5EF4-FFF2-40B4-BE49-F238E27FC236}">
                        <a16:creationId xmlns:a16="http://schemas.microsoft.com/office/drawing/2014/main" id="{71FD00BE-6308-400B-B21B-FBA658D39EFB}"/>
                      </a:ext>
                    </a:extLst>
                  </p:cNvPr>
                  <p:cNvGrpSpPr/>
                  <p:nvPr/>
                </p:nvGrpSpPr>
                <p:grpSpPr>
                  <a:xfrm>
                    <a:off x="1541555" y="202366"/>
                    <a:ext cx="7769151" cy="5236355"/>
                    <a:chOff x="2042164" y="193431"/>
                    <a:chExt cx="7613186" cy="5957324"/>
                  </a:xfrm>
                </p:grpSpPr>
                <p:grpSp>
                  <p:nvGrpSpPr>
                    <p:cNvPr id="40" name="组合 39">
                      <a:extLst>
                        <a:ext uri="{FF2B5EF4-FFF2-40B4-BE49-F238E27FC236}">
                          <a16:creationId xmlns:a16="http://schemas.microsoft.com/office/drawing/2014/main" id="{89BAC0E5-DF38-4B01-BEEE-132EFA2FBB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42164" y="193431"/>
                      <a:ext cx="7613186" cy="5177740"/>
                      <a:chOff x="2205714" y="174940"/>
                      <a:chExt cx="7525764" cy="6052015"/>
                    </a:xfrm>
                  </p:grpSpPr>
                  <p:grpSp>
                    <p:nvGrpSpPr>
                      <p:cNvPr id="16" name="组合 15">
                        <a:extLst>
                          <a:ext uri="{FF2B5EF4-FFF2-40B4-BE49-F238E27FC236}">
                            <a16:creationId xmlns:a16="http://schemas.microsoft.com/office/drawing/2014/main" id="{3BFA6E75-0087-4AB0-B0BD-95FB5D0A356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205714" y="174940"/>
                        <a:ext cx="7525764" cy="5313323"/>
                        <a:chOff x="2006422" y="1230017"/>
                        <a:chExt cx="7525764" cy="5313323"/>
                      </a:xfrm>
                    </p:grpSpPr>
                    <p:grpSp>
                      <p:nvGrpSpPr>
                        <p:cNvPr id="2048" name="组合 2047">
                          <a:extLst>
                            <a:ext uri="{FF2B5EF4-FFF2-40B4-BE49-F238E27FC236}">
                              <a16:creationId xmlns:a16="http://schemas.microsoft.com/office/drawing/2014/main" id="{E9425D82-30CD-49DE-8C21-118BA2EE978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416407" y="1230017"/>
                          <a:ext cx="4709886" cy="4574631"/>
                          <a:chOff x="3518605" y="778196"/>
                          <a:chExt cx="4709886" cy="4574631"/>
                        </a:xfrm>
                      </p:grpSpPr>
                      <p:grpSp>
                        <p:nvGrpSpPr>
                          <p:cNvPr id="57" name="组合 56">
                            <a:extLst>
                              <a:ext uri="{FF2B5EF4-FFF2-40B4-BE49-F238E27FC236}">
                                <a16:creationId xmlns:a16="http://schemas.microsoft.com/office/drawing/2014/main" id="{78D42E1A-E0E4-4D15-8271-437E3096DF7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518605" y="778196"/>
                            <a:ext cx="4709886" cy="3835939"/>
                            <a:chOff x="3061405" y="331753"/>
                            <a:chExt cx="4709886" cy="3835939"/>
                          </a:xfrm>
                        </p:grpSpPr>
                        <p:grpSp>
                          <p:nvGrpSpPr>
                            <p:cNvPr id="50" name="组合 49">
                              <a:extLst>
                                <a:ext uri="{FF2B5EF4-FFF2-40B4-BE49-F238E27FC236}">
                                  <a16:creationId xmlns:a16="http://schemas.microsoft.com/office/drawing/2014/main" id="{63FE97B7-D622-4682-9B0C-6B65B0E268F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3061405" y="331753"/>
                              <a:ext cx="4709886" cy="3097247"/>
                              <a:chOff x="3061405" y="331753"/>
                              <a:chExt cx="4709886" cy="3097247"/>
                            </a:xfrm>
                          </p:grpSpPr>
                          <p:grpSp>
                            <p:nvGrpSpPr>
                              <p:cNvPr id="44" name="组合 43">
                                <a:extLst>
                                  <a:ext uri="{FF2B5EF4-FFF2-40B4-BE49-F238E27FC236}">
                                    <a16:creationId xmlns:a16="http://schemas.microsoft.com/office/drawing/2014/main" id="{153BB965-B661-46A7-A1A7-192DB9B6CF9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3061405" y="331753"/>
                                <a:ext cx="4709886" cy="2285234"/>
                                <a:chOff x="3061405" y="331753"/>
                                <a:chExt cx="4709886" cy="2285234"/>
                              </a:xfrm>
                            </p:grpSpPr>
                            <p:grpSp>
                              <p:nvGrpSpPr>
                                <p:cNvPr id="35" name="组合 34">
                                  <a:extLst>
                                    <a:ext uri="{FF2B5EF4-FFF2-40B4-BE49-F238E27FC236}">
                                      <a16:creationId xmlns:a16="http://schemas.microsoft.com/office/drawing/2014/main" id="{B527981C-AA88-417A-86C7-C7DC92DC46B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061405" y="331753"/>
                                  <a:ext cx="4709886" cy="1551395"/>
                                  <a:chOff x="357961" y="1728201"/>
                                  <a:chExt cx="4709886" cy="1551395"/>
                                </a:xfrm>
                              </p:grpSpPr>
                              <p:grpSp>
                                <p:nvGrpSpPr>
                                  <p:cNvPr id="3" name="组合 2">
                                    <a:extLst>
                                      <a:ext uri="{FF2B5EF4-FFF2-40B4-BE49-F238E27FC236}">
                                        <a16:creationId xmlns:a16="http://schemas.microsoft.com/office/drawing/2014/main" id="{1DFEA053-8E10-42F7-838C-2F6B39A941CE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357961" y="1728201"/>
                                    <a:ext cx="4709886" cy="502958"/>
                                    <a:chOff x="2420257" y="2442029"/>
                                    <a:chExt cx="1865088" cy="502958"/>
                                  </a:xfrm>
                                </p:grpSpPr>
                                <p:sp>
                                  <p:nvSpPr>
                                    <p:cNvPr id="2" name="矩形 1">
                                      <a:extLst>
                                        <a:ext uri="{FF2B5EF4-FFF2-40B4-BE49-F238E27FC236}">
                                          <a16:creationId xmlns:a16="http://schemas.microsoft.com/office/drawing/2014/main" id="{1697ADA1-623B-4C7D-8D83-932EE36B2398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2420257" y="2442029"/>
                                      <a:ext cx="932544" cy="502958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50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r>
                                        <a:rPr lang="zh-CN" altLang="en-US" sz="1600" b="1" dirty="0">
                                          <a:solidFill>
                                            <a:schemeClr val="tx1"/>
                                          </a:solidFill>
                                          <a:latin typeface="宋体" panose="02010600030101010101" pitchFamily="2" charset="-122"/>
                                          <a:ea typeface="宋体" panose="02010600030101010101" pitchFamily="2" charset="-122"/>
                                        </a:rPr>
                                        <a:t>基站</a:t>
                                      </a:r>
                                      <a:endParaRPr lang="en-US" altLang="zh-CN" sz="1600" b="1" dirty="0">
                                        <a:solidFill>
                                          <a:schemeClr val="tx1"/>
                                        </a:solidFill>
                                        <a:latin typeface="宋体" panose="02010600030101010101" pitchFamily="2" charset="-122"/>
                                        <a:ea typeface="宋体" panose="02010600030101010101" pitchFamily="2" charset="-122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17" name="矩形 16">
                                      <a:extLst>
                                        <a:ext uri="{FF2B5EF4-FFF2-40B4-BE49-F238E27FC236}">
                                          <a16:creationId xmlns:a16="http://schemas.microsoft.com/office/drawing/2014/main" id="{1710609E-DC13-4B15-A98C-9B62A6397C1E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3352801" y="2442029"/>
                                      <a:ext cx="932544" cy="502958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50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r>
                                        <a:rPr lang="zh-CN" altLang="en-US" sz="1600" b="1" dirty="0">
                                          <a:solidFill>
                                            <a:schemeClr val="tx1"/>
                                          </a:solidFill>
                                          <a:latin typeface="宋体" panose="02010600030101010101" pitchFamily="2" charset="-122"/>
                                          <a:ea typeface="宋体" panose="02010600030101010101" pitchFamily="2" charset="-122"/>
                                        </a:rPr>
                                        <a:t>流动站</a:t>
                                      </a:r>
                                      <a:endParaRPr lang="en-US" altLang="zh-CN" sz="1400" b="1" dirty="0">
                                        <a:solidFill>
                                          <a:schemeClr val="tx1"/>
                                        </a:solidFill>
                                        <a:latin typeface="宋体" panose="02010600030101010101" pitchFamily="2" charset="-122"/>
                                        <a:ea typeface="宋体" panose="02010600030101010101" pitchFamily="2" charset="-122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28" name="矩形 27">
                                    <a:extLst>
                                      <a:ext uri="{FF2B5EF4-FFF2-40B4-BE49-F238E27FC236}">
                                        <a16:creationId xmlns:a16="http://schemas.microsoft.com/office/drawing/2014/main" id="{553DFC83-47DB-4A9A-BC1A-10C202F5727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957056" y="2776638"/>
                                    <a:ext cx="3511696" cy="502958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r>
                                      <a:rPr lang="zh-CN" altLang="en-US" sz="1600" dirty="0">
                                        <a:solidFill>
                                          <a:schemeClr val="tx1"/>
                                        </a:solidFill>
                                        <a:latin typeface="宋体" panose="02010600030101010101" pitchFamily="2" charset="-122"/>
                                        <a:ea typeface="宋体" panose="02010600030101010101" pitchFamily="2" charset="-122"/>
                                      </a:rPr>
                                      <a:t>数据获取 数据解码</a:t>
                                    </a:r>
                                  </a:p>
                                </p:txBody>
                              </p:sp>
                              <p:cxnSp>
                                <p:nvCxnSpPr>
                                  <p:cNvPr id="31" name="直接箭头连接符 30">
                                    <a:extLst>
                                      <a:ext uri="{FF2B5EF4-FFF2-40B4-BE49-F238E27FC236}">
                                        <a16:creationId xmlns:a16="http://schemas.microsoft.com/office/drawing/2014/main" id="{253A7C8D-EAA1-4D35-9373-262A8E017482}"/>
                                      </a:ext>
                                    </a:extLst>
                                  </p:cNvPr>
                                  <p:cNvCxnSpPr>
                                    <a:stCxn id="2" idx="2"/>
                                  </p:cNvCxnSpPr>
                                  <p:nvPr/>
                                </p:nvCxnSpPr>
                                <p:spPr>
                                  <a:xfrm flipH="1">
                                    <a:off x="1531344" y="2231159"/>
                                    <a:ext cx="4089" cy="545479"/>
                                  </a:xfrm>
                                  <a:prstGeom prst="straightConnector1">
                                    <a:avLst/>
                                  </a:prstGeom>
                                  <a:ln w="12700">
                                    <a:solidFill>
                                      <a:schemeClr val="tx1"/>
                                    </a:solidFill>
                                    <a:tailEnd type="triangle"/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  <p:cxnSp>
                                <p:nvCxnSpPr>
                                  <p:cNvPr id="33" name="直接箭头连接符 32">
                                    <a:extLst>
                                      <a:ext uri="{FF2B5EF4-FFF2-40B4-BE49-F238E27FC236}">
                                        <a16:creationId xmlns:a16="http://schemas.microsoft.com/office/drawing/2014/main" id="{D4288149-89C2-4866-907B-45315EC4FFCA}"/>
                                      </a:ext>
                                    </a:extLst>
                                  </p:cNvPr>
                                  <p:cNvCxnSpPr>
                                    <a:cxnSpLocks/>
                                  </p:cNvCxnSpPr>
                                  <p:nvPr/>
                                </p:nvCxnSpPr>
                                <p:spPr>
                                  <a:xfrm>
                                    <a:off x="3890375" y="2231159"/>
                                    <a:ext cx="0" cy="545479"/>
                                  </a:xfrm>
                                  <a:prstGeom prst="straightConnector1">
                                    <a:avLst/>
                                  </a:prstGeom>
                                  <a:ln w="12700">
                                    <a:solidFill>
                                      <a:schemeClr val="tx1"/>
                                    </a:solidFill>
                                    <a:tailEnd type="triangle"/>
                                  </a:ln>
                                </p:spPr>
                                <p:style>
                                  <a:lnRef idx="1">
                                    <a:schemeClr val="accent1"/>
                                  </a:lnRef>
                                  <a:fillRef idx="0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tx1"/>
                                  </a:fontRef>
                                </p:style>
                              </p:cxnSp>
                            </p:grpSp>
                            <p:sp>
                              <p:nvSpPr>
                                <p:cNvPr id="37" name="矩形 36">
                                  <a:extLst>
                                    <a:ext uri="{FF2B5EF4-FFF2-40B4-BE49-F238E27FC236}">
                                      <a16:creationId xmlns:a16="http://schemas.microsoft.com/office/drawing/2014/main" id="{7238C171-4DD0-4012-AF94-7FE995E32C1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247488" y="2114029"/>
                                  <a:ext cx="2346331" cy="50295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solidFill>
                                    <a:schemeClr val="tx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zh-CN" altLang="en-US" sz="1600" dirty="0">
                                      <a:solidFill>
                                        <a:schemeClr val="tx1"/>
                                      </a:solidFill>
                                      <a:latin typeface="宋体" panose="02010600030101010101" pitchFamily="2" charset="-122"/>
                                      <a:ea typeface="宋体" panose="02010600030101010101" pitchFamily="2" charset="-122"/>
                                    </a:rPr>
                                    <a:t>时间同步</a:t>
                                  </a:r>
                                </a:p>
                              </p:txBody>
                            </p:sp>
                            <p:cxnSp>
                              <p:nvCxnSpPr>
                                <p:cNvPr id="39" name="直接箭头连接符 38">
                                  <a:extLst>
                                    <a:ext uri="{FF2B5EF4-FFF2-40B4-BE49-F238E27FC236}">
                                      <a16:creationId xmlns:a16="http://schemas.microsoft.com/office/drawing/2014/main" id="{6E17ECEE-E761-41A4-BB01-D753EDDFF0E2}"/>
                                    </a:ext>
                                  </a:extLst>
                                </p:cNvPr>
                                <p:cNvCxnSpPr>
                                  <a:cxnSpLocks/>
                                  <a:stCxn id="28" idx="2"/>
                                  <a:endCxn id="37" idx="0"/>
                                </p:cNvCxnSpPr>
                                <p:nvPr/>
                              </p:nvCxnSpPr>
                              <p:spPr>
                                <a:xfrm>
                                  <a:off x="5416348" y="1883148"/>
                                  <a:ext cx="4306" cy="230881"/>
                                </a:xfrm>
                                <a:prstGeom prst="straightConnector1">
                                  <a:avLst/>
                                </a:prstGeom>
                                <a:ln w="12700">
                                  <a:solidFill>
                                    <a:schemeClr val="tx1"/>
                                  </a:solidFill>
                                  <a:tailEnd type="triangle"/>
                                </a:ln>
                              </p:spPr>
                              <p:style>
                                <a:lnRef idx="1">
                                  <a:schemeClr val="accent1"/>
                                </a:lnRef>
                                <a:fillRef idx="0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tx1"/>
                                </a:fontRef>
                              </p:style>
                            </p:cxnSp>
                          </p:grpSp>
                          <p:sp>
                            <p:nvSpPr>
                              <p:cNvPr id="43" name="矩形 42">
                                <a:extLst>
                                  <a:ext uri="{FF2B5EF4-FFF2-40B4-BE49-F238E27FC236}">
                                    <a16:creationId xmlns:a16="http://schemas.microsoft.com/office/drawing/2014/main" id="{55218BC2-A615-4984-AE4E-0E2C8E80FAA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660500" y="2926042"/>
                                <a:ext cx="3511696" cy="50295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r>
                                  <a:rPr lang="en-US" altLang="zh-CN" sz="16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宋体" panose="02010600030101010101" pitchFamily="2" charset="-122"/>
                                  </a:rPr>
                                  <a:t>SPP&amp;SPV </a:t>
                                </a:r>
                                <a:r>
                                  <a:rPr lang="zh-CN" altLang="en-US" sz="1600" dirty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ea typeface="宋体" panose="02010600030101010101" pitchFamily="2" charset="-122"/>
                                  </a:rPr>
                                  <a:t>计算</a:t>
                                </a:r>
                              </a:p>
                            </p:txBody>
                          </p:sp>
                          <p:cxnSp>
                            <p:nvCxnSpPr>
                              <p:cNvPr id="48" name="直接箭头连接符 47">
                                <a:extLst>
                                  <a:ext uri="{FF2B5EF4-FFF2-40B4-BE49-F238E27FC236}">
                                    <a16:creationId xmlns:a16="http://schemas.microsoft.com/office/drawing/2014/main" id="{A71C4DA9-E2D4-48AF-998A-E921A16C6DD1}"/>
                                  </a:ext>
                                </a:extLst>
                              </p:cNvPr>
                              <p:cNvCxnSpPr>
                                <a:cxnSpLocks/>
                                <a:stCxn id="37" idx="2"/>
                                <a:endCxn id="43" idx="0"/>
                              </p:cNvCxnSpPr>
                              <p:nvPr/>
                            </p:nvCxnSpPr>
                            <p:spPr>
                              <a:xfrm flipH="1">
                                <a:off x="5416348" y="2616987"/>
                                <a:ext cx="4306" cy="309055"/>
                              </a:xfrm>
                              <a:prstGeom prst="straightConnector1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53" name="矩形 52">
                              <a:extLst>
                                <a:ext uri="{FF2B5EF4-FFF2-40B4-BE49-F238E27FC236}">
                                  <a16:creationId xmlns:a16="http://schemas.microsoft.com/office/drawing/2014/main" id="{A1920C30-6684-4496-B6E7-3FABC1D412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660500" y="3664734"/>
                              <a:ext cx="3511696" cy="5029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zh-CN" altLang="en-US" sz="1600" dirty="0">
                                  <a:solidFill>
                                    <a:schemeClr val="tx1"/>
                                  </a:solidFill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a:t>观测有效数据标记</a:t>
                              </a:r>
                            </a:p>
                          </p:txBody>
                        </p:sp>
                        <p:cxnSp>
                          <p:nvCxnSpPr>
                            <p:cNvPr id="55" name="直接箭头连接符 54">
                              <a:extLst>
                                <a:ext uri="{FF2B5EF4-FFF2-40B4-BE49-F238E27FC236}">
                                  <a16:creationId xmlns:a16="http://schemas.microsoft.com/office/drawing/2014/main" id="{A39601B2-09BC-4E84-8B38-57AF3867DD88}"/>
                                </a:ext>
                              </a:extLst>
                            </p:cNvPr>
                            <p:cNvCxnSpPr>
                              <a:cxnSpLocks/>
                              <a:stCxn id="43" idx="2"/>
                              <a:endCxn id="53" idx="0"/>
                            </p:cNvCxnSpPr>
                            <p:nvPr/>
                          </p:nvCxnSpPr>
                          <p:spPr>
                            <a:xfrm>
                              <a:off x="5416348" y="3429000"/>
                              <a:ext cx="0" cy="235734"/>
                            </a:xfrm>
                            <a:prstGeom prst="straightConnector1">
                              <a:avLst/>
                            </a:prstGeom>
                            <a:ln w="1270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59" name="矩形 58">
                            <a:extLst>
                              <a:ext uri="{FF2B5EF4-FFF2-40B4-BE49-F238E27FC236}">
                                <a16:creationId xmlns:a16="http://schemas.microsoft.com/office/drawing/2014/main" id="{9D391553-5560-4CEC-B646-2EFD4445FB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704688" y="4849869"/>
                            <a:ext cx="2346331" cy="502958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zh-CN" altLang="en-US" sz="1600" dirty="0">
                                <a:solidFill>
                                  <a:schemeClr val="tx1"/>
                                </a:solidFill>
                                <a:latin typeface="宋体" panose="02010600030101010101" pitchFamily="2" charset="-122"/>
                                <a:ea typeface="宋体" panose="02010600030101010101" pitchFamily="2" charset="-122"/>
                              </a:rPr>
                              <a:t>站间单差</a:t>
                            </a:r>
                          </a:p>
                        </p:txBody>
                      </p:sp>
                      <p:cxnSp>
                        <p:nvCxnSpPr>
                          <p:cNvPr id="61" name="直接箭头连接符 60">
                            <a:extLst>
                              <a:ext uri="{FF2B5EF4-FFF2-40B4-BE49-F238E27FC236}">
                                <a16:creationId xmlns:a16="http://schemas.microsoft.com/office/drawing/2014/main" id="{F7265B29-C923-408F-BC7E-A483A5B6FA74}"/>
                              </a:ext>
                            </a:extLst>
                          </p:cNvPr>
                          <p:cNvCxnSpPr>
                            <a:cxnSpLocks/>
                            <a:stCxn id="53" idx="2"/>
                            <a:endCxn id="59" idx="0"/>
                          </p:cNvCxnSpPr>
                          <p:nvPr/>
                        </p:nvCxnSpPr>
                        <p:spPr>
                          <a:xfrm>
                            <a:off x="5873548" y="4614135"/>
                            <a:ext cx="4306" cy="235734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2049" name="文本框 2048">
                          <a:extLst>
                            <a:ext uri="{FF2B5EF4-FFF2-40B4-BE49-F238E27FC236}">
                              <a16:creationId xmlns:a16="http://schemas.microsoft.com/office/drawing/2014/main" id="{69BCA083-33BA-477C-B9AB-1E684ECCFF5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416407" y="2938428"/>
                          <a:ext cx="714630" cy="34788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altLang="zh-CN" sz="1100" b="1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×</a:t>
                          </a:r>
                          <a:r>
                            <a:rPr lang="zh-CN" altLang="en-US" sz="11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失败</a:t>
                          </a:r>
                        </a:p>
                      </p:txBody>
                    </p:sp>
                    <p:cxnSp>
                      <p:nvCxnSpPr>
                        <p:cNvPr id="2054" name="直接连接符 2053">
                          <a:extLst>
                            <a:ext uri="{FF2B5EF4-FFF2-40B4-BE49-F238E27FC236}">
                              <a16:creationId xmlns:a16="http://schemas.microsoft.com/office/drawing/2014/main" id="{7CAE9AE7-3D35-4367-810D-D5F0B5B003F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006423" y="2869217"/>
                          <a:ext cx="7525763" cy="0"/>
                        </a:xfrm>
                        <a:prstGeom prst="line">
                          <a:avLst/>
                        </a:prstGeom>
                        <a:ln w="28575">
                          <a:prstDash val="dashDot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058" name="矩形: 折角 2057">
                          <a:extLst>
                            <a:ext uri="{FF2B5EF4-FFF2-40B4-BE49-F238E27FC236}">
                              <a16:creationId xmlns:a16="http://schemas.microsoft.com/office/drawing/2014/main" id="{F237B0F2-88F9-469A-8429-8F97025D6E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58643" y="4891874"/>
                          <a:ext cx="1435184" cy="502959"/>
                        </a:xfrm>
                        <a:prstGeom prst="foldedCorner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zh-CN" altLang="en-US" sz="14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数据处理</a:t>
                          </a:r>
                        </a:p>
                      </p:txBody>
                    </p:sp>
                    <p:sp>
                      <p:nvSpPr>
                        <p:cNvPr id="79" name="矩形: 折角 78">
                          <a:extLst>
                            <a:ext uri="{FF2B5EF4-FFF2-40B4-BE49-F238E27FC236}">
                              <a16:creationId xmlns:a16="http://schemas.microsoft.com/office/drawing/2014/main" id="{76007C3A-45F4-406F-A8C6-3ACDA41F87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78003" y="2278453"/>
                          <a:ext cx="1435184" cy="502959"/>
                        </a:xfrm>
                        <a:prstGeom prst="foldedCorner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zh-CN" altLang="en-US" sz="1400" b="1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读取数据</a:t>
                          </a:r>
                        </a:p>
                      </p:txBody>
                    </p:sp>
                    <p:sp>
                      <p:nvSpPr>
                        <p:cNvPr id="52" name="矩形 51">
                          <a:extLst>
                            <a:ext uri="{FF2B5EF4-FFF2-40B4-BE49-F238E27FC236}">
                              <a16:creationId xmlns:a16="http://schemas.microsoft.com/office/drawing/2014/main" id="{9EF3B475-AE12-46C8-9D53-91D4BC1DC1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589790" y="6040382"/>
                          <a:ext cx="2359031" cy="502958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tx1"/>
                              </a:solidFill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周跳探测</a:t>
                          </a:r>
                        </a:p>
                      </p:txBody>
                    </p:sp>
                    <p:cxnSp>
                      <p:nvCxnSpPr>
                        <p:cNvPr id="54" name="直接箭头连接符 53">
                          <a:extLst>
                            <a:ext uri="{FF2B5EF4-FFF2-40B4-BE49-F238E27FC236}">
                              <a16:creationId xmlns:a16="http://schemas.microsoft.com/office/drawing/2014/main" id="{951AACFA-A095-402B-B179-7B074CCA9639}"/>
                            </a:ext>
                          </a:extLst>
                        </p:cNvPr>
                        <p:cNvCxnSpPr>
                          <a:cxnSpLocks/>
                          <a:stCxn id="59" idx="2"/>
                          <a:endCxn id="52" idx="0"/>
                        </p:cNvCxnSpPr>
                        <p:nvPr/>
                      </p:nvCxnSpPr>
                      <p:spPr>
                        <a:xfrm flipH="1">
                          <a:off x="5769306" y="5804648"/>
                          <a:ext cx="6350" cy="235734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4" name="直接连接符 153">
                          <a:extLst>
                            <a:ext uri="{FF2B5EF4-FFF2-40B4-BE49-F238E27FC236}">
                              <a16:creationId xmlns:a16="http://schemas.microsoft.com/office/drawing/2014/main" id="{310BDF6B-ADDB-4B9B-A253-090F0F5B7FE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006422" y="2862329"/>
                          <a:ext cx="7525763" cy="0"/>
                        </a:xfrm>
                        <a:prstGeom prst="line">
                          <a:avLst/>
                        </a:prstGeom>
                        <a:ln w="28575">
                          <a:prstDash val="dashDot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63" name="矩形 62">
                        <a:extLst>
                          <a:ext uri="{FF2B5EF4-FFF2-40B4-BE49-F238E27FC236}">
                            <a16:creationId xmlns:a16="http://schemas.microsoft.com/office/drawing/2014/main" id="{060C53F7-5AAE-44B9-8A8D-98CBC06A0B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2217" y="5723997"/>
                        <a:ext cx="2359031" cy="50295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zh-CN" altLang="en-US" sz="1600" dirty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基准星选取</a:t>
                        </a:r>
                      </a:p>
                    </p:txBody>
                  </p:sp>
                  <p:cxnSp>
                    <p:nvCxnSpPr>
                      <p:cNvPr id="64" name="直接箭头连接符 63">
                        <a:extLst>
                          <a:ext uri="{FF2B5EF4-FFF2-40B4-BE49-F238E27FC236}">
                            <a16:creationId xmlns:a16="http://schemas.microsoft.com/office/drawing/2014/main" id="{18451546-AC56-40F8-BE8A-D0E3D6348833}"/>
                          </a:ext>
                        </a:extLst>
                      </p:cNvPr>
                      <p:cNvCxnSpPr>
                        <a:cxnSpLocks/>
                        <a:stCxn id="52" idx="2"/>
                        <a:endCxn id="63" idx="0"/>
                      </p:cNvCxnSpPr>
                      <p:nvPr/>
                    </p:nvCxnSpPr>
                    <p:spPr>
                      <a:xfrm>
                        <a:off x="5968597" y="5488264"/>
                        <a:ext cx="3136" cy="235733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74" name="矩形 73">
                      <a:extLst>
                        <a:ext uri="{FF2B5EF4-FFF2-40B4-BE49-F238E27FC236}">
                          <a16:creationId xmlns:a16="http://schemas.microsoft.com/office/drawing/2014/main" id="{CFB66C71-DDFB-40A3-9F6F-EA3FC56846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0139" y="5720454"/>
                      <a:ext cx="2386434" cy="43030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浮点解计算</a:t>
                      </a:r>
                    </a:p>
                  </p:txBody>
                </p:sp>
                <p:cxnSp>
                  <p:nvCxnSpPr>
                    <p:cNvPr id="75" name="直接箭头连接符 74">
                      <a:extLst>
                        <a:ext uri="{FF2B5EF4-FFF2-40B4-BE49-F238E27FC236}">
                          <a16:creationId xmlns:a16="http://schemas.microsoft.com/office/drawing/2014/main" id="{C316F4C6-F574-4E52-A947-7A5D51E8A887}"/>
                        </a:ext>
                      </a:extLst>
                    </p:cNvPr>
                    <p:cNvCxnSpPr>
                      <a:cxnSpLocks/>
                      <a:stCxn id="63" idx="2"/>
                      <a:endCxn id="74" idx="0"/>
                    </p:cNvCxnSpPr>
                    <p:nvPr/>
                  </p:nvCxnSpPr>
                  <p:spPr>
                    <a:xfrm>
                      <a:off x="5851930" y="5371171"/>
                      <a:ext cx="1426" cy="349283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0" name="矩形 79">
                    <a:extLst>
                      <a:ext uri="{FF2B5EF4-FFF2-40B4-BE49-F238E27FC236}">
                        <a16:creationId xmlns:a16="http://schemas.microsoft.com/office/drawing/2014/main" id="{47DBABA7-4217-4B29-9A91-22EC57844288}"/>
                      </a:ext>
                    </a:extLst>
                  </p:cNvPr>
                  <p:cNvSpPr/>
                  <p:nvPr/>
                </p:nvSpPr>
                <p:spPr>
                  <a:xfrm>
                    <a:off x="4215025" y="5733892"/>
                    <a:ext cx="2435323" cy="37822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Lambda </a:t>
                    </a:r>
                    <a:r>
                      <a:rPr lang="zh-CN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固定</a:t>
                    </a:r>
                  </a:p>
                </p:txBody>
              </p:sp>
              <p:sp>
                <p:nvSpPr>
                  <p:cNvPr id="81" name="矩形 80">
                    <a:extLst>
                      <a:ext uri="{FF2B5EF4-FFF2-40B4-BE49-F238E27FC236}">
                        <a16:creationId xmlns:a16="http://schemas.microsoft.com/office/drawing/2014/main" id="{6CC613E6-F82B-41C1-A004-BFCBFE9CF450}"/>
                      </a:ext>
                    </a:extLst>
                  </p:cNvPr>
                  <p:cNvSpPr/>
                  <p:nvPr/>
                </p:nvSpPr>
                <p:spPr>
                  <a:xfrm>
                    <a:off x="4221582" y="6407288"/>
                    <a:ext cx="2435323" cy="378225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固定解计算</a:t>
                    </a:r>
                  </a:p>
                </p:txBody>
              </p:sp>
              <p:cxnSp>
                <p:nvCxnSpPr>
                  <p:cNvPr id="82" name="直接箭头连接符 81">
                    <a:extLst>
                      <a:ext uri="{FF2B5EF4-FFF2-40B4-BE49-F238E27FC236}">
                        <a16:creationId xmlns:a16="http://schemas.microsoft.com/office/drawing/2014/main" id="{3696B066-4587-4FF9-BA0C-ADF50C019055}"/>
                      </a:ext>
                    </a:extLst>
                  </p:cNvPr>
                  <p:cNvCxnSpPr>
                    <a:cxnSpLocks/>
                    <a:stCxn id="80" idx="2"/>
                    <a:endCxn id="81" idx="0"/>
                  </p:cNvCxnSpPr>
                  <p:nvPr/>
                </p:nvCxnSpPr>
                <p:spPr>
                  <a:xfrm>
                    <a:off x="5432687" y="6112117"/>
                    <a:ext cx="6557" cy="29517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箭头连接符 82">
                    <a:extLst>
                      <a:ext uri="{FF2B5EF4-FFF2-40B4-BE49-F238E27FC236}">
                        <a16:creationId xmlns:a16="http://schemas.microsoft.com/office/drawing/2014/main" id="{88D3C414-6834-4059-9595-77C21A32B941}"/>
                      </a:ext>
                    </a:extLst>
                  </p:cNvPr>
                  <p:cNvCxnSpPr>
                    <a:cxnSpLocks/>
                    <a:stCxn id="74" idx="2"/>
                    <a:endCxn id="80" idx="0"/>
                  </p:cNvCxnSpPr>
                  <p:nvPr/>
                </p:nvCxnSpPr>
                <p:spPr>
                  <a:xfrm>
                    <a:off x="5430824" y="5438721"/>
                    <a:ext cx="1863" cy="29517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35E53ACA-D618-4E33-A2FA-FA0BCED44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6978" y="4944310"/>
                  <a:ext cx="7769150" cy="0"/>
                </a:xfrm>
                <a:prstGeom prst="line">
                  <a:avLst/>
                </a:prstGeom>
                <a:ln w="28575"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39331F82-76FB-437D-B758-2BF3220E947C}"/>
                    </a:ext>
                  </a:extLst>
                </p:cNvPr>
                <p:cNvGrpSpPr/>
                <p:nvPr/>
              </p:nvGrpSpPr>
              <p:grpSpPr>
                <a:xfrm>
                  <a:off x="8741683" y="5060496"/>
                  <a:ext cx="1675508" cy="1051621"/>
                  <a:chOff x="8741683" y="5060496"/>
                  <a:chExt cx="1675508" cy="1051621"/>
                </a:xfrm>
              </p:grpSpPr>
              <p:sp>
                <p:nvSpPr>
                  <p:cNvPr id="90" name="矩形: 折角 89">
                    <a:extLst>
                      <a:ext uri="{FF2B5EF4-FFF2-40B4-BE49-F238E27FC236}">
                        <a16:creationId xmlns:a16="http://schemas.microsoft.com/office/drawing/2014/main" id="{8AAEA432-534E-4E10-AEA7-D836F340549A}"/>
                      </a:ext>
                    </a:extLst>
                  </p:cNvPr>
                  <p:cNvSpPr/>
                  <p:nvPr/>
                </p:nvSpPr>
                <p:spPr>
                  <a:xfrm>
                    <a:off x="8741683" y="5359459"/>
                    <a:ext cx="1481599" cy="378225"/>
                  </a:xfrm>
                  <a:prstGeom prst="foldedCorne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最小二乘法</a:t>
                    </a:r>
                  </a:p>
                </p:txBody>
              </p:sp>
              <p:sp>
                <p:nvSpPr>
                  <p:cNvPr id="91" name="矩形: 折角 90">
                    <a:extLst>
                      <a:ext uri="{FF2B5EF4-FFF2-40B4-BE49-F238E27FC236}">
                        <a16:creationId xmlns:a16="http://schemas.microsoft.com/office/drawing/2014/main" id="{762F0045-0D44-45AF-8FA8-D717E27DEA5D}"/>
                      </a:ext>
                    </a:extLst>
                  </p:cNvPr>
                  <p:cNvSpPr/>
                  <p:nvPr/>
                </p:nvSpPr>
                <p:spPr>
                  <a:xfrm>
                    <a:off x="8741685" y="5733892"/>
                    <a:ext cx="1481599" cy="378225"/>
                  </a:xfrm>
                  <a:prstGeom prst="foldedCorner">
                    <a:avLst>
                      <a:gd name="adj" fmla="val 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4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卡尔曼滤波</a:t>
                    </a:r>
                  </a:p>
                </p:txBody>
              </p:sp>
              <p:sp>
                <p:nvSpPr>
                  <p:cNvPr id="92" name="矩形: 折角 91">
                    <a:extLst>
                      <a:ext uri="{FF2B5EF4-FFF2-40B4-BE49-F238E27FC236}">
                        <a16:creationId xmlns:a16="http://schemas.microsoft.com/office/drawing/2014/main" id="{613B24F6-5069-4640-AC2B-188EAF4AE3B8}"/>
                      </a:ext>
                    </a:extLst>
                  </p:cNvPr>
                  <p:cNvSpPr/>
                  <p:nvPr/>
                </p:nvSpPr>
                <p:spPr>
                  <a:xfrm>
                    <a:off x="8741684" y="5060496"/>
                    <a:ext cx="1675507" cy="1051573"/>
                  </a:xfrm>
                  <a:prstGeom prst="foldedCorner">
                    <a:avLst>
                      <a:gd name="adj" fmla="val 16973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cxnSp>
              <p:nvCxnSpPr>
                <p:cNvPr id="85" name="连接符: 肘形 84">
                  <a:extLst>
                    <a:ext uri="{FF2B5EF4-FFF2-40B4-BE49-F238E27FC236}">
                      <a16:creationId xmlns:a16="http://schemas.microsoft.com/office/drawing/2014/main" id="{EDD2F941-AE66-4246-81DC-6C204B9E4896}"/>
                    </a:ext>
                  </a:extLst>
                </p:cNvPr>
                <p:cNvCxnSpPr>
                  <a:stCxn id="37" idx="1"/>
                  <a:endCxn id="28" idx="1"/>
                </p:cNvCxnSpPr>
                <p:nvPr/>
              </p:nvCxnSpPr>
              <p:spPr>
                <a:xfrm rot="10800000">
                  <a:off x="4651033" y="1179904"/>
                  <a:ext cx="605972" cy="551847"/>
                </a:xfrm>
                <a:prstGeom prst="bentConnector3">
                  <a:avLst>
                    <a:gd name="adj1" fmla="val 303771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A8519EE2-E66E-4CED-BB43-02F01DCDEC37}"/>
                    </a:ext>
                  </a:extLst>
                </p:cNvPr>
                <p:cNvSpPr txBox="1"/>
                <p:nvPr/>
              </p:nvSpPr>
              <p:spPr>
                <a:xfrm>
                  <a:off x="6461554" y="1903502"/>
                  <a:ext cx="7377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√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成功</a:t>
                  </a: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24DF0FFD-283B-4774-97FB-46D346CB83C3}"/>
                    </a:ext>
                  </a:extLst>
                </p:cNvPr>
                <p:cNvSpPr txBox="1"/>
                <p:nvPr/>
              </p:nvSpPr>
              <p:spPr>
                <a:xfrm>
                  <a:off x="6461553" y="4704806"/>
                  <a:ext cx="7377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√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成功</a:t>
                  </a:r>
                </a:p>
              </p:txBody>
            </p:sp>
            <p:cxnSp>
              <p:nvCxnSpPr>
                <p:cNvPr id="99" name="连接符: 肘形 98">
                  <a:extLst>
                    <a:ext uri="{FF2B5EF4-FFF2-40B4-BE49-F238E27FC236}">
                      <a16:creationId xmlns:a16="http://schemas.microsoft.com/office/drawing/2014/main" id="{78CD801B-B9D6-402A-BA04-340B5EE37FC8}"/>
                    </a:ext>
                  </a:extLst>
                </p:cNvPr>
                <p:cNvCxnSpPr>
                  <a:cxnSpLocks/>
                  <a:stCxn id="63" idx="1"/>
                  <a:endCxn id="28" idx="1"/>
                </p:cNvCxnSpPr>
                <p:nvPr/>
              </p:nvCxnSpPr>
              <p:spPr>
                <a:xfrm rot="10800000">
                  <a:off x="4651034" y="1179904"/>
                  <a:ext cx="596097" cy="3384469"/>
                </a:xfrm>
                <a:prstGeom prst="bentConnector3">
                  <a:avLst>
                    <a:gd name="adj1" fmla="val 30757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96BD8F3-D799-468A-9E04-0D2408B99A0B}"/>
                    </a:ext>
                  </a:extLst>
                </p:cNvPr>
                <p:cNvSpPr txBox="1"/>
                <p:nvPr/>
              </p:nvSpPr>
              <p:spPr>
                <a:xfrm>
                  <a:off x="4032563" y="4330816"/>
                  <a:ext cx="7377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×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失败</a:t>
                  </a:r>
                </a:p>
              </p:txBody>
            </p:sp>
            <p:sp>
              <p:nvSpPr>
                <p:cNvPr id="100" name="矩形: 圆角 99">
                  <a:extLst>
                    <a:ext uri="{FF2B5EF4-FFF2-40B4-BE49-F238E27FC236}">
                      <a16:creationId xmlns:a16="http://schemas.microsoft.com/office/drawing/2014/main" id="{F1BE8373-CF8E-472C-A10D-0FE768892BF0}"/>
                    </a:ext>
                  </a:extLst>
                </p:cNvPr>
                <p:cNvSpPr/>
                <p:nvPr/>
              </p:nvSpPr>
              <p:spPr>
                <a:xfrm>
                  <a:off x="2651769" y="5662048"/>
                  <a:ext cx="1527792" cy="52191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流动站定位结果</a:t>
                  </a:r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67F119C-EFB1-4076-947B-6BFBF15C34BF}"/>
                    </a:ext>
                  </a:extLst>
                </p:cNvPr>
                <p:cNvSpPr txBox="1"/>
                <p:nvPr/>
              </p:nvSpPr>
              <p:spPr>
                <a:xfrm>
                  <a:off x="6416420" y="6137431"/>
                  <a:ext cx="156574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√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成功 </a:t>
                  </a:r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&amp; Ratio &gt; 3</a:t>
                  </a:r>
                  <a:endParaRPr lang="zh-CN" altLang="en-US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CB84D582-342D-4E86-B114-7AAE2ED7CDE8}"/>
                    </a:ext>
                  </a:extLst>
                </p:cNvPr>
                <p:cNvSpPr txBox="1"/>
                <p:nvPr/>
              </p:nvSpPr>
              <p:spPr>
                <a:xfrm>
                  <a:off x="4336334" y="5678096"/>
                  <a:ext cx="156574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Ratio &lt; 3</a:t>
                  </a:r>
                  <a:endParaRPr lang="zh-CN" altLang="en-US" sz="1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2" name="连接符: 肘形 121">
                  <a:extLst>
                    <a:ext uri="{FF2B5EF4-FFF2-40B4-BE49-F238E27FC236}">
                      <a16:creationId xmlns:a16="http://schemas.microsoft.com/office/drawing/2014/main" id="{D61CDCA3-8DF0-446E-A614-2AA88FD938E9}"/>
                    </a:ext>
                  </a:extLst>
                </p:cNvPr>
                <p:cNvCxnSpPr>
                  <a:cxnSpLocks/>
                  <a:stCxn id="81" idx="1"/>
                  <a:endCxn id="100" idx="2"/>
                </p:cNvCxnSpPr>
                <p:nvPr/>
              </p:nvCxnSpPr>
              <p:spPr>
                <a:xfrm rot="10800000">
                  <a:off x="3415665" y="6183959"/>
                  <a:ext cx="1841340" cy="412442"/>
                </a:xfrm>
                <a:prstGeom prst="bentConnector2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连接符: 肘形 132">
                  <a:extLst>
                    <a:ext uri="{FF2B5EF4-FFF2-40B4-BE49-F238E27FC236}">
                      <a16:creationId xmlns:a16="http://schemas.microsoft.com/office/drawing/2014/main" id="{5615665E-EAC8-42A7-86C6-15A1263734BB}"/>
                    </a:ext>
                  </a:extLst>
                </p:cNvPr>
                <p:cNvCxnSpPr>
                  <a:cxnSpLocks/>
                  <a:stCxn id="80" idx="1"/>
                  <a:endCxn id="100" idx="3"/>
                </p:cNvCxnSpPr>
                <p:nvPr/>
              </p:nvCxnSpPr>
              <p:spPr>
                <a:xfrm rot="10800000">
                  <a:off x="4179562" y="5923005"/>
                  <a:ext cx="1070887" cy="1"/>
                </a:xfrm>
                <a:prstGeom prst="bentConnector3">
                  <a:avLst>
                    <a:gd name="adj1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C2635FB7-4022-4218-8DA2-189CB714274F}"/>
                    </a:ext>
                  </a:extLst>
                </p:cNvPr>
                <p:cNvSpPr txBox="1"/>
                <p:nvPr/>
              </p:nvSpPr>
              <p:spPr>
                <a:xfrm>
                  <a:off x="6461553" y="5446968"/>
                  <a:ext cx="7377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√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成功</a:t>
                  </a:r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8DC9C8E-4574-4EB9-B9F6-724FAE9C34B3}"/>
                    </a:ext>
                  </a:extLst>
                </p:cNvPr>
                <p:cNvSpPr txBox="1"/>
                <p:nvPr/>
              </p:nvSpPr>
              <p:spPr>
                <a:xfrm>
                  <a:off x="4336334" y="5918226"/>
                  <a:ext cx="156574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浮点解</a:t>
                  </a:r>
                </a:p>
              </p:txBody>
            </p:sp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C60E1443-40F1-4072-A255-7EB396334FC7}"/>
                    </a:ext>
                  </a:extLst>
                </p:cNvPr>
                <p:cNvSpPr txBox="1"/>
                <p:nvPr/>
              </p:nvSpPr>
              <p:spPr>
                <a:xfrm>
                  <a:off x="3897467" y="6352431"/>
                  <a:ext cx="156574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固定解</a:t>
                  </a:r>
                </a:p>
              </p:txBody>
            </p:sp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32E76A85-B395-4B4F-AF7E-9D88CF1303B0}"/>
                    </a:ext>
                  </a:extLst>
                </p:cNvPr>
                <p:cNvSpPr txBox="1"/>
                <p:nvPr/>
              </p:nvSpPr>
              <p:spPr>
                <a:xfrm>
                  <a:off x="4032563" y="4997840"/>
                  <a:ext cx="73774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×</a:t>
                  </a:r>
                  <a:r>
                    <a:rPr lang="zh-CN" altLang="en-US" sz="11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失败</a:t>
                  </a:r>
                </a:p>
              </p:txBody>
            </p:sp>
            <p:cxnSp>
              <p:nvCxnSpPr>
                <p:cNvPr id="149" name="连接符: 肘形 148">
                  <a:extLst>
                    <a:ext uri="{FF2B5EF4-FFF2-40B4-BE49-F238E27FC236}">
                      <a16:creationId xmlns:a16="http://schemas.microsoft.com/office/drawing/2014/main" id="{1A9BBEAE-561C-497B-A2D7-15B591F55297}"/>
                    </a:ext>
                  </a:extLst>
                </p:cNvPr>
                <p:cNvCxnSpPr>
                  <a:cxnSpLocks/>
                  <a:stCxn id="74" idx="1"/>
                  <a:endCxn id="100" idx="0"/>
                </p:cNvCxnSpPr>
                <p:nvPr/>
              </p:nvCxnSpPr>
              <p:spPr>
                <a:xfrm rot="10800000" flipV="1">
                  <a:off x="3415665" y="5249608"/>
                  <a:ext cx="1832920" cy="412439"/>
                </a:xfrm>
                <a:prstGeom prst="bentConnector2">
                  <a:avLst/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F6F1C351-6666-46EE-8A12-A58ED3934190}"/>
                    </a:ext>
                  </a:extLst>
                </p:cNvPr>
                <p:cNvSpPr txBox="1"/>
                <p:nvPr/>
              </p:nvSpPr>
              <p:spPr>
                <a:xfrm>
                  <a:off x="3868159" y="5286008"/>
                  <a:ext cx="156574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单点定位结果</a:t>
                  </a:r>
                </a:p>
              </p:txBody>
            </p:sp>
          </p:grpSp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631F5A56-11A4-469F-BAA7-C4E9CB436CD8}"/>
                  </a:ext>
                </a:extLst>
              </p:cNvPr>
              <p:cNvSpPr/>
              <p:nvPr/>
            </p:nvSpPr>
            <p:spPr>
              <a:xfrm>
                <a:off x="2303967" y="474292"/>
                <a:ext cx="1529230" cy="424978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配置文件</a:t>
                </a:r>
              </a:p>
            </p:txBody>
          </p:sp>
          <p:cxnSp>
            <p:nvCxnSpPr>
              <p:cNvPr id="159" name="连接符: 肘形 158">
                <a:extLst>
                  <a:ext uri="{FF2B5EF4-FFF2-40B4-BE49-F238E27FC236}">
                    <a16:creationId xmlns:a16="http://schemas.microsoft.com/office/drawing/2014/main" id="{58AF9524-3394-4889-ACBE-48F8559074CB}"/>
                  </a:ext>
                </a:extLst>
              </p:cNvPr>
              <p:cNvCxnSpPr>
                <a:cxnSpLocks/>
                <a:stCxn id="158" idx="0"/>
                <a:endCxn id="2" idx="1"/>
              </p:cNvCxnSpPr>
              <p:nvPr/>
            </p:nvCxnSpPr>
            <p:spPr>
              <a:xfrm rot="5400000" flipH="1" flipV="1">
                <a:off x="3234800" y="22894"/>
                <a:ext cx="285180" cy="617617"/>
              </a:xfrm>
              <a:prstGeom prst="bentConnector2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058B21A8-41DE-4D64-B582-F76261B4E460}"/>
                  </a:ext>
                </a:extLst>
              </p:cNvPr>
              <p:cNvSpPr txBox="1"/>
              <p:nvPr/>
            </p:nvSpPr>
            <p:spPr>
              <a:xfrm>
                <a:off x="8823163" y="4863310"/>
                <a:ext cx="96077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相对定位</a:t>
                </a:r>
              </a:p>
            </p:txBody>
          </p:sp>
        </p:grpSp>
        <p:cxnSp>
          <p:nvCxnSpPr>
            <p:cNvPr id="166" name="连接符: 肘形 165">
              <a:extLst>
                <a:ext uri="{FF2B5EF4-FFF2-40B4-BE49-F238E27FC236}">
                  <a16:creationId xmlns:a16="http://schemas.microsoft.com/office/drawing/2014/main" id="{9D0C5177-79C8-48CA-9530-6B86DF1EAAB8}"/>
                </a:ext>
              </a:extLst>
            </p:cNvPr>
            <p:cNvCxnSpPr>
              <a:cxnSpLocks/>
              <a:stCxn id="63" idx="1"/>
              <a:endCxn id="100" idx="0"/>
            </p:cNvCxnSpPr>
            <p:nvPr/>
          </p:nvCxnSpPr>
          <p:spPr>
            <a:xfrm rot="10800000" flipV="1">
              <a:off x="3108773" y="4499432"/>
              <a:ext cx="1831465" cy="1097676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6F94BDB2-8CCB-4DD8-992C-B776B1E8AB7B}"/>
                </a:ext>
              </a:extLst>
            </p:cNvPr>
            <p:cNvSpPr txBox="1"/>
            <p:nvPr/>
          </p:nvSpPr>
          <p:spPr>
            <a:xfrm>
              <a:off x="3556726" y="4503557"/>
              <a:ext cx="156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单点定位结果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014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DB5CE01D-ECCE-477D-895C-3CDCC751D9CF}"/>
              </a:ext>
            </a:extLst>
          </p:cNvPr>
          <p:cNvGrpSpPr/>
          <p:nvPr/>
        </p:nvGrpSpPr>
        <p:grpSpPr>
          <a:xfrm>
            <a:off x="1884333" y="511444"/>
            <a:ext cx="7166678" cy="5493459"/>
            <a:chOff x="1874000" y="687919"/>
            <a:chExt cx="7422441" cy="6084381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CD03948-943C-4C25-AA32-6133B6A1FBE5}"/>
                </a:ext>
              </a:extLst>
            </p:cNvPr>
            <p:cNvSpPr/>
            <p:nvPr/>
          </p:nvSpPr>
          <p:spPr>
            <a:xfrm>
              <a:off x="2906443" y="2263385"/>
              <a:ext cx="2431103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最小二乘法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56FAA42D-4574-4257-B3E3-DBC253CE8566}"/>
                </a:ext>
              </a:extLst>
            </p:cNvPr>
            <p:cNvSpPr/>
            <p:nvPr/>
          </p:nvSpPr>
          <p:spPr>
            <a:xfrm>
              <a:off x="6865338" y="2263385"/>
              <a:ext cx="2431103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卡尔曼滤波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1DD7AA7A-6C74-4D8B-B663-D9CB38909A2C}"/>
                </a:ext>
              </a:extLst>
            </p:cNvPr>
            <p:cNvSpPr/>
            <p:nvPr/>
          </p:nvSpPr>
          <p:spPr>
            <a:xfrm>
              <a:off x="5106275" y="1182488"/>
              <a:ext cx="1979448" cy="521911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参考星 单差数据</a:t>
              </a:r>
            </a:p>
          </p:txBody>
        </p: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E37B656B-BB2F-4792-975A-0A8063250DD8}"/>
                </a:ext>
              </a:extLst>
            </p:cNvPr>
            <p:cNvCxnSpPr>
              <a:cxnSpLocks/>
              <a:stCxn id="84" idx="2"/>
              <a:endCxn id="69" idx="0"/>
            </p:cNvCxnSpPr>
            <p:nvPr/>
          </p:nvCxnSpPr>
          <p:spPr>
            <a:xfrm rot="5400000">
              <a:off x="4829504" y="996889"/>
              <a:ext cx="558986" cy="1974004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连接符: 肘形 86">
              <a:extLst>
                <a:ext uri="{FF2B5EF4-FFF2-40B4-BE49-F238E27FC236}">
                  <a16:creationId xmlns:a16="http://schemas.microsoft.com/office/drawing/2014/main" id="{E072DCA8-AEEA-4776-8CDC-F5C509F433B4}"/>
                </a:ext>
              </a:extLst>
            </p:cNvPr>
            <p:cNvCxnSpPr>
              <a:cxnSpLocks/>
              <a:stCxn id="84" idx="2"/>
              <a:endCxn id="70" idx="0"/>
            </p:cNvCxnSpPr>
            <p:nvPr/>
          </p:nvCxnSpPr>
          <p:spPr>
            <a:xfrm rot="16200000" flipH="1">
              <a:off x="6808951" y="991446"/>
              <a:ext cx="558986" cy="1984890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C4FD40FE-12D1-4CD4-AD94-35B78258F293}"/>
                </a:ext>
              </a:extLst>
            </p:cNvPr>
            <p:cNvSpPr/>
            <p:nvPr/>
          </p:nvSpPr>
          <p:spPr>
            <a:xfrm>
              <a:off x="3227142" y="3019943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浮点解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14" name="连接符: 肘形 113">
              <a:extLst>
                <a:ext uri="{FF2B5EF4-FFF2-40B4-BE49-F238E27FC236}">
                  <a16:creationId xmlns:a16="http://schemas.microsoft.com/office/drawing/2014/main" id="{BF6EF3E2-5251-4A7A-A759-7D841B4DBE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32828" y="2830777"/>
              <a:ext cx="378334" cy="1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B4935D7-6C61-4106-8541-B376148E1BA7}"/>
                </a:ext>
              </a:extLst>
            </p:cNvPr>
            <p:cNvSpPr/>
            <p:nvPr/>
          </p:nvSpPr>
          <p:spPr>
            <a:xfrm>
              <a:off x="3227142" y="3827808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Lambda</a:t>
              </a:r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固定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566A791E-0E46-4E9B-8EEF-AFAD194D72BF}"/>
                </a:ext>
              </a:extLst>
            </p:cNvPr>
            <p:cNvCxnSpPr>
              <a:cxnSpLocks/>
            </p:cNvCxnSpPr>
            <p:nvPr/>
          </p:nvCxnSpPr>
          <p:spPr>
            <a:xfrm>
              <a:off x="4121993" y="3398167"/>
              <a:ext cx="0" cy="4296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2F2C794-04BB-4D08-B65A-0CAEDE2A0213}"/>
                </a:ext>
              </a:extLst>
            </p:cNvPr>
            <p:cNvSpPr/>
            <p:nvPr/>
          </p:nvSpPr>
          <p:spPr>
            <a:xfrm>
              <a:off x="3227142" y="4635674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固定解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09B187EE-6ED5-4100-B628-ACF4B3AA0624}"/>
                </a:ext>
              </a:extLst>
            </p:cNvPr>
            <p:cNvCxnSpPr>
              <a:cxnSpLocks/>
              <a:stCxn id="118" idx="2"/>
              <a:endCxn id="131" idx="0"/>
            </p:cNvCxnSpPr>
            <p:nvPr/>
          </p:nvCxnSpPr>
          <p:spPr>
            <a:xfrm>
              <a:off x="4121994" y="4206032"/>
              <a:ext cx="0" cy="42964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911CA6FB-72D5-4329-A9EC-E513FADF9CB3}"/>
                </a:ext>
              </a:extLst>
            </p:cNvPr>
            <p:cNvSpPr txBox="1"/>
            <p:nvPr/>
          </p:nvSpPr>
          <p:spPr>
            <a:xfrm>
              <a:off x="4121994" y="3436965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成功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3CB5265F-03D1-4BDA-A781-DEED874BAF36}"/>
                </a:ext>
              </a:extLst>
            </p:cNvPr>
            <p:cNvSpPr txBox="1"/>
            <p:nvPr/>
          </p:nvSpPr>
          <p:spPr>
            <a:xfrm>
              <a:off x="4226385" y="4279827"/>
              <a:ext cx="7904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Ratio &gt; 3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7" name="矩形: 折角 136">
              <a:extLst>
                <a:ext uri="{FF2B5EF4-FFF2-40B4-BE49-F238E27FC236}">
                  <a16:creationId xmlns:a16="http://schemas.microsoft.com/office/drawing/2014/main" id="{D134CC3F-C421-428F-A7DA-46007A276C98}"/>
                </a:ext>
              </a:extLst>
            </p:cNvPr>
            <p:cNvSpPr/>
            <p:nvPr/>
          </p:nvSpPr>
          <p:spPr>
            <a:xfrm>
              <a:off x="3381194" y="687919"/>
              <a:ext cx="1481599" cy="378225"/>
            </a:xfrm>
            <a:prstGeom prst="foldedCorne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读取数据</a:t>
              </a:r>
            </a:p>
          </p:txBody>
        </p:sp>
        <p:cxnSp>
          <p:nvCxnSpPr>
            <p:cNvPr id="138" name="连接符: 肘形 137">
              <a:extLst>
                <a:ext uri="{FF2B5EF4-FFF2-40B4-BE49-F238E27FC236}">
                  <a16:creationId xmlns:a16="http://schemas.microsoft.com/office/drawing/2014/main" id="{C6517320-6E17-4F19-BB17-CE8AA1AC6E2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932824" y="2830722"/>
              <a:ext cx="378334" cy="1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连接符: 肘形 138">
              <a:extLst>
                <a:ext uri="{FF2B5EF4-FFF2-40B4-BE49-F238E27FC236}">
                  <a16:creationId xmlns:a16="http://schemas.microsoft.com/office/drawing/2014/main" id="{5CAA8E51-25AB-4F36-88C2-6AE95246AB0D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3227142" y="877032"/>
              <a:ext cx="154052" cy="2332023"/>
            </a:xfrm>
            <a:prstGeom prst="bentConnector3">
              <a:avLst>
                <a:gd name="adj1" fmla="val -427003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6C80A78-B9CE-498F-9ACD-959AE2D811DE}"/>
                </a:ext>
              </a:extLst>
            </p:cNvPr>
            <p:cNvSpPr txBox="1"/>
            <p:nvPr/>
          </p:nvSpPr>
          <p:spPr>
            <a:xfrm>
              <a:off x="2568967" y="3200595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失败</a:t>
              </a: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E45D3D04-4E62-4A87-BDC4-3DCB26F80EFF}"/>
                </a:ext>
              </a:extLst>
            </p:cNvPr>
            <p:cNvSpPr/>
            <p:nvPr/>
          </p:nvSpPr>
          <p:spPr>
            <a:xfrm>
              <a:off x="5332104" y="6250389"/>
              <a:ext cx="1527792" cy="521911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流动站定位结果</a:t>
              </a:r>
            </a:p>
          </p:txBody>
        </p:sp>
        <p:cxnSp>
          <p:nvCxnSpPr>
            <p:cNvPr id="150" name="连接符: 肘形 149">
              <a:extLst>
                <a:ext uri="{FF2B5EF4-FFF2-40B4-BE49-F238E27FC236}">
                  <a16:creationId xmlns:a16="http://schemas.microsoft.com/office/drawing/2014/main" id="{B5F2D7F0-9304-471C-A96D-8C2F24B38B39}"/>
                </a:ext>
              </a:extLst>
            </p:cNvPr>
            <p:cNvCxnSpPr>
              <a:cxnSpLocks/>
              <a:stCxn id="118" idx="1"/>
              <a:endCxn id="145" idx="1"/>
            </p:cNvCxnSpPr>
            <p:nvPr/>
          </p:nvCxnSpPr>
          <p:spPr>
            <a:xfrm rot="10800000" flipH="1" flipV="1">
              <a:off x="3227141" y="4016919"/>
              <a:ext cx="2104962" cy="2494425"/>
            </a:xfrm>
            <a:prstGeom prst="bentConnector3">
              <a:avLst>
                <a:gd name="adj1" fmla="val -29803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C874F8A5-73AF-4C50-BC6A-357E5DAE3F6E}"/>
                </a:ext>
              </a:extLst>
            </p:cNvPr>
            <p:cNvSpPr txBox="1"/>
            <p:nvPr/>
          </p:nvSpPr>
          <p:spPr>
            <a:xfrm>
              <a:off x="2550347" y="3787331"/>
              <a:ext cx="7904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Ratio &lt; 3</a:t>
              </a:r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3C6629CF-D806-4C46-9611-4201F49759B6}"/>
                </a:ext>
              </a:extLst>
            </p:cNvPr>
            <p:cNvSpPr txBox="1"/>
            <p:nvPr/>
          </p:nvSpPr>
          <p:spPr>
            <a:xfrm>
              <a:off x="2585790" y="4014417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浮点解</a:t>
              </a:r>
            </a:p>
          </p:txBody>
        </p:sp>
        <p:cxnSp>
          <p:nvCxnSpPr>
            <p:cNvPr id="155" name="连接符: 肘形 154">
              <a:extLst>
                <a:ext uri="{FF2B5EF4-FFF2-40B4-BE49-F238E27FC236}">
                  <a16:creationId xmlns:a16="http://schemas.microsoft.com/office/drawing/2014/main" id="{854E7121-F347-405D-823E-7E3B976AE044}"/>
                </a:ext>
              </a:extLst>
            </p:cNvPr>
            <p:cNvCxnSpPr>
              <a:cxnSpLocks/>
              <a:stCxn id="131" idx="2"/>
              <a:endCxn id="145" idx="0"/>
            </p:cNvCxnSpPr>
            <p:nvPr/>
          </p:nvCxnSpPr>
          <p:spPr>
            <a:xfrm rot="16200000" flipH="1">
              <a:off x="4490751" y="4645140"/>
              <a:ext cx="1236491" cy="1974006"/>
            </a:xfrm>
            <a:prstGeom prst="bent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44F504F0-19DC-499F-9D52-125E660507F4}"/>
                </a:ext>
              </a:extLst>
            </p:cNvPr>
            <p:cNvCxnSpPr>
              <a:cxnSpLocks/>
              <a:stCxn id="144" idx="1"/>
              <a:endCxn id="145" idx="2"/>
            </p:cNvCxnSpPr>
            <p:nvPr/>
          </p:nvCxnSpPr>
          <p:spPr>
            <a:xfrm rot="10800000" flipH="1" flipV="1">
              <a:off x="2568967" y="3331400"/>
              <a:ext cx="3527033" cy="3440900"/>
            </a:xfrm>
            <a:prstGeom prst="bentConnector4">
              <a:avLst>
                <a:gd name="adj1" fmla="val -19717"/>
                <a:gd name="adj2" fmla="val 107358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133C3240-5F13-40FA-8935-044F6BD879B1}"/>
                </a:ext>
              </a:extLst>
            </p:cNvPr>
            <p:cNvSpPr txBox="1"/>
            <p:nvPr/>
          </p:nvSpPr>
          <p:spPr>
            <a:xfrm>
              <a:off x="1874000" y="3339790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单点定位</a:t>
              </a:r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56FA29EF-CBF7-40AC-B39B-BF7A3CE7241B}"/>
                </a:ext>
              </a:extLst>
            </p:cNvPr>
            <p:cNvSpPr txBox="1"/>
            <p:nvPr/>
          </p:nvSpPr>
          <p:spPr>
            <a:xfrm>
              <a:off x="4154534" y="5063742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固定解</a:t>
              </a: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65FE528F-0E83-43FB-9EF5-43E66DD570FE}"/>
                </a:ext>
              </a:extLst>
            </p:cNvPr>
            <p:cNvSpPr/>
            <p:nvPr/>
          </p:nvSpPr>
          <p:spPr>
            <a:xfrm>
              <a:off x="7186037" y="3019943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滤波初始化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91" name="直接箭头连接符 190">
              <a:extLst>
                <a:ext uri="{FF2B5EF4-FFF2-40B4-BE49-F238E27FC236}">
                  <a16:creationId xmlns:a16="http://schemas.microsoft.com/office/drawing/2014/main" id="{8B278D58-4A16-48B9-B5D3-4EBA536429E8}"/>
                </a:ext>
              </a:extLst>
            </p:cNvPr>
            <p:cNvCxnSpPr>
              <a:cxnSpLocks/>
              <a:stCxn id="70" idx="2"/>
              <a:endCxn id="188" idx="0"/>
            </p:cNvCxnSpPr>
            <p:nvPr/>
          </p:nvCxnSpPr>
          <p:spPr>
            <a:xfrm flipH="1">
              <a:off x="8080889" y="2641609"/>
              <a:ext cx="1" cy="3783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89F4BD7B-B60A-4E9A-B3F4-C77A7EC974AE}"/>
                </a:ext>
              </a:extLst>
            </p:cNvPr>
            <p:cNvSpPr txBox="1"/>
            <p:nvPr/>
          </p:nvSpPr>
          <p:spPr>
            <a:xfrm>
              <a:off x="8070006" y="2702064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未初始化</a:t>
              </a:r>
            </a:p>
          </p:txBody>
        </p:sp>
        <p:cxnSp>
          <p:nvCxnSpPr>
            <p:cNvPr id="195" name="连接符: 肘形 194">
              <a:extLst>
                <a:ext uri="{FF2B5EF4-FFF2-40B4-BE49-F238E27FC236}">
                  <a16:creationId xmlns:a16="http://schemas.microsoft.com/office/drawing/2014/main" id="{98256DDA-1D34-4A78-B97C-7D82F9CCF1E8}"/>
                </a:ext>
              </a:extLst>
            </p:cNvPr>
            <p:cNvCxnSpPr>
              <a:cxnSpLocks/>
              <a:stCxn id="188" idx="3"/>
              <a:endCxn id="137" idx="3"/>
            </p:cNvCxnSpPr>
            <p:nvPr/>
          </p:nvCxnSpPr>
          <p:spPr>
            <a:xfrm flipH="1" flipV="1">
              <a:off x="4862793" y="877032"/>
              <a:ext cx="4112948" cy="2332023"/>
            </a:xfrm>
            <a:prstGeom prst="bentConnector3">
              <a:avLst>
                <a:gd name="adj1" fmla="val -17649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17A03798-87F1-4EFD-9D88-48772DCF99B2}"/>
                </a:ext>
              </a:extLst>
            </p:cNvPr>
            <p:cNvSpPr/>
            <p:nvPr/>
          </p:nvSpPr>
          <p:spPr>
            <a:xfrm>
              <a:off x="7186037" y="3670717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时间预测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2" name="连接符: 肘形 201">
              <a:extLst>
                <a:ext uri="{FF2B5EF4-FFF2-40B4-BE49-F238E27FC236}">
                  <a16:creationId xmlns:a16="http://schemas.microsoft.com/office/drawing/2014/main" id="{B72DCCBC-0E43-44FA-815F-E2A5A0AEA5CE}"/>
                </a:ext>
              </a:extLst>
            </p:cNvPr>
            <p:cNvCxnSpPr>
              <a:cxnSpLocks/>
              <a:stCxn id="70" idx="1"/>
              <a:endCxn id="201" idx="1"/>
            </p:cNvCxnSpPr>
            <p:nvPr/>
          </p:nvCxnSpPr>
          <p:spPr>
            <a:xfrm rot="10800000" flipH="1" flipV="1">
              <a:off x="6865337" y="2452497"/>
              <a:ext cx="320699" cy="1407332"/>
            </a:xfrm>
            <a:prstGeom prst="bentConnector3">
              <a:avLst>
                <a:gd name="adj1" fmla="val -237736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FEEC7282-1645-4162-A70E-34F3B3E51E93}"/>
                </a:ext>
              </a:extLst>
            </p:cNvPr>
            <p:cNvSpPr txBox="1"/>
            <p:nvPr/>
          </p:nvSpPr>
          <p:spPr>
            <a:xfrm>
              <a:off x="6072435" y="2702064"/>
              <a:ext cx="781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已初始化</a:t>
              </a: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0835BD35-1E18-4F1D-BB29-D5CDE51477FE}"/>
                </a:ext>
              </a:extLst>
            </p:cNvPr>
            <p:cNvSpPr/>
            <p:nvPr/>
          </p:nvSpPr>
          <p:spPr>
            <a:xfrm>
              <a:off x="7186037" y="4321491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一次更新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F9949C46-B294-4AEC-94FA-F0A752275117}"/>
                </a:ext>
              </a:extLst>
            </p:cNvPr>
            <p:cNvSpPr/>
            <p:nvPr/>
          </p:nvSpPr>
          <p:spPr>
            <a:xfrm>
              <a:off x="7186037" y="4972265"/>
              <a:ext cx="1789704" cy="3782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Lambda</a:t>
              </a:r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固定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29" name="矩形 228">
            <a:extLst>
              <a:ext uri="{FF2B5EF4-FFF2-40B4-BE49-F238E27FC236}">
                <a16:creationId xmlns:a16="http://schemas.microsoft.com/office/drawing/2014/main" id="{6C44FDCD-9AF5-4493-8ACC-18CD98DC3127}"/>
              </a:ext>
            </a:extLst>
          </p:cNvPr>
          <p:cNvSpPr/>
          <p:nvPr/>
        </p:nvSpPr>
        <p:spPr>
          <a:xfrm>
            <a:off x="7013327" y="4967259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二次更新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280B3724-6822-44C3-8BCC-0529CE5590AD}"/>
              </a:ext>
            </a:extLst>
          </p:cNvPr>
          <p:cNvSpPr/>
          <p:nvPr/>
        </p:nvSpPr>
        <p:spPr>
          <a:xfrm>
            <a:off x="6473780" y="3716785"/>
            <a:ext cx="2313081" cy="1634443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80D307F2-4C39-40B2-BD3B-AD628E81C82B}"/>
              </a:ext>
            </a:extLst>
          </p:cNvPr>
          <p:cNvSpPr txBox="1"/>
          <p:nvPr/>
        </p:nvSpPr>
        <p:spPr>
          <a:xfrm>
            <a:off x="6607429" y="3944918"/>
            <a:ext cx="346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测量更新</a:t>
            </a: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A2553124-26BB-4019-ABC7-0D2A54B09862}"/>
              </a:ext>
            </a:extLst>
          </p:cNvPr>
          <p:cNvCxnSpPr>
            <a:cxnSpLocks/>
            <a:stCxn id="201" idx="2"/>
            <a:endCxn id="213" idx="0"/>
          </p:cNvCxnSpPr>
          <p:nvPr/>
        </p:nvCxnSpPr>
        <p:spPr>
          <a:xfrm>
            <a:off x="7877344" y="3546039"/>
            <a:ext cx="0" cy="246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8B933532-29F4-43CE-B5B7-1F53A26F177D}"/>
              </a:ext>
            </a:extLst>
          </p:cNvPr>
          <p:cNvCxnSpPr>
            <a:cxnSpLocks/>
            <a:stCxn id="213" idx="2"/>
            <a:endCxn id="214" idx="0"/>
          </p:cNvCxnSpPr>
          <p:nvPr/>
        </p:nvCxnSpPr>
        <p:spPr>
          <a:xfrm>
            <a:off x="7877344" y="4133609"/>
            <a:ext cx="0" cy="246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BC81C85B-086D-4EE8-A638-C7B8E6501B1D}"/>
              </a:ext>
            </a:extLst>
          </p:cNvPr>
          <p:cNvCxnSpPr>
            <a:cxnSpLocks/>
            <a:stCxn id="214" idx="2"/>
            <a:endCxn id="229" idx="0"/>
          </p:cNvCxnSpPr>
          <p:nvPr/>
        </p:nvCxnSpPr>
        <p:spPr>
          <a:xfrm>
            <a:off x="7877344" y="4721179"/>
            <a:ext cx="0" cy="246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D394EE9E-E2DF-4C70-A118-62F9505ABBC6}"/>
              </a:ext>
            </a:extLst>
          </p:cNvPr>
          <p:cNvSpPr txBox="1"/>
          <p:nvPr/>
        </p:nvSpPr>
        <p:spPr>
          <a:xfrm>
            <a:off x="7874852" y="4707415"/>
            <a:ext cx="763223" cy="23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Ratio &gt; 3</a:t>
            </a:r>
            <a:endParaRPr lang="zh-CN" altLang="en-US" sz="1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5" name="连接符: 肘形 244">
            <a:extLst>
              <a:ext uri="{FF2B5EF4-FFF2-40B4-BE49-F238E27FC236}">
                <a16:creationId xmlns:a16="http://schemas.microsoft.com/office/drawing/2014/main" id="{DEC9DBB8-B6AB-4370-8B7C-AEC85ECA28BA}"/>
              </a:ext>
            </a:extLst>
          </p:cNvPr>
          <p:cNvCxnSpPr>
            <a:cxnSpLocks/>
            <a:stCxn id="250" idx="3"/>
            <a:endCxn id="145" idx="3"/>
          </p:cNvCxnSpPr>
          <p:nvPr/>
        </p:nvCxnSpPr>
        <p:spPr>
          <a:xfrm flipH="1">
            <a:off x="6698424" y="4548083"/>
            <a:ext cx="2806160" cy="1221209"/>
          </a:xfrm>
          <a:prstGeom prst="bentConnector3">
            <a:avLst>
              <a:gd name="adj1" fmla="val -1608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0" name="文本框 249">
            <a:extLst>
              <a:ext uri="{FF2B5EF4-FFF2-40B4-BE49-F238E27FC236}">
                <a16:creationId xmlns:a16="http://schemas.microsoft.com/office/drawing/2014/main" id="{0B0A89C4-0CAC-4EA5-B4AA-0EA00CD50E6E}"/>
              </a:ext>
            </a:extLst>
          </p:cNvPr>
          <p:cNvSpPr txBox="1"/>
          <p:nvPr/>
        </p:nvSpPr>
        <p:spPr>
          <a:xfrm>
            <a:off x="8741361" y="4417278"/>
            <a:ext cx="763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Ratio &lt; 3</a:t>
            </a:r>
            <a:endParaRPr lang="zh-CN" altLang="en-US" sz="1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BB7CD37B-AB15-4B56-BDAF-4261A0485D95}"/>
              </a:ext>
            </a:extLst>
          </p:cNvPr>
          <p:cNvSpPr txBox="1"/>
          <p:nvPr/>
        </p:nvSpPr>
        <p:spPr>
          <a:xfrm>
            <a:off x="9382477" y="4561463"/>
            <a:ext cx="754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浮点解</a:t>
            </a:r>
          </a:p>
        </p:txBody>
      </p:sp>
      <p:cxnSp>
        <p:nvCxnSpPr>
          <p:cNvPr id="252" name="连接符: 肘形 251">
            <a:extLst>
              <a:ext uri="{FF2B5EF4-FFF2-40B4-BE49-F238E27FC236}">
                <a16:creationId xmlns:a16="http://schemas.microsoft.com/office/drawing/2014/main" id="{97A25344-7D41-4688-BCB1-981799F26C3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60849" y="5134552"/>
            <a:ext cx="1052473" cy="395678"/>
          </a:xfrm>
          <a:prstGeom prst="bentConnector3">
            <a:avLst>
              <a:gd name="adj1" fmla="val 10003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5" name="文本框 254">
            <a:extLst>
              <a:ext uri="{FF2B5EF4-FFF2-40B4-BE49-F238E27FC236}">
                <a16:creationId xmlns:a16="http://schemas.microsoft.com/office/drawing/2014/main" id="{A6ED07F6-6AA5-441F-A450-C561F1A80774}"/>
              </a:ext>
            </a:extLst>
          </p:cNvPr>
          <p:cNvSpPr txBox="1"/>
          <p:nvPr/>
        </p:nvSpPr>
        <p:spPr>
          <a:xfrm>
            <a:off x="6427179" y="4903894"/>
            <a:ext cx="754200" cy="23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固定解</a:t>
            </a:r>
          </a:p>
        </p:txBody>
      </p:sp>
      <p:cxnSp>
        <p:nvCxnSpPr>
          <p:cNvPr id="263" name="连接符: 肘形 262">
            <a:extLst>
              <a:ext uri="{FF2B5EF4-FFF2-40B4-BE49-F238E27FC236}">
                <a16:creationId xmlns:a16="http://schemas.microsoft.com/office/drawing/2014/main" id="{5C53E2C8-85D1-4FA6-BC48-544F91A9A340}"/>
              </a:ext>
            </a:extLst>
          </p:cNvPr>
          <p:cNvCxnSpPr>
            <a:cxnSpLocks/>
            <a:stCxn id="250" idx="0"/>
            <a:endCxn id="188" idx="2"/>
          </p:cNvCxnSpPr>
          <p:nvPr/>
        </p:nvCxnSpPr>
        <p:spPr>
          <a:xfrm rot="16200000" flipV="1">
            <a:off x="7770755" y="3065059"/>
            <a:ext cx="1458809" cy="1245629"/>
          </a:xfrm>
          <a:prstGeom prst="bentConnector3">
            <a:avLst>
              <a:gd name="adj1" fmla="val 88699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8" name="连接符: 肘形 287">
            <a:extLst>
              <a:ext uri="{FF2B5EF4-FFF2-40B4-BE49-F238E27FC236}">
                <a16:creationId xmlns:a16="http://schemas.microsoft.com/office/drawing/2014/main" id="{4FF0A661-7D8A-4490-8372-F8CC8C2C38B6}"/>
              </a:ext>
            </a:extLst>
          </p:cNvPr>
          <p:cNvCxnSpPr>
            <a:cxnSpLocks/>
            <a:stCxn id="188" idx="3"/>
            <a:endCxn id="145" idx="2"/>
          </p:cNvCxnSpPr>
          <p:nvPr/>
        </p:nvCxnSpPr>
        <p:spPr>
          <a:xfrm flipH="1">
            <a:off x="5960851" y="2787724"/>
            <a:ext cx="2780510" cy="3217179"/>
          </a:xfrm>
          <a:prstGeom prst="bentConnector4">
            <a:avLst>
              <a:gd name="adj1" fmla="val -54541"/>
              <a:gd name="adj2" fmla="val 107106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文本框 291">
            <a:extLst>
              <a:ext uri="{FF2B5EF4-FFF2-40B4-BE49-F238E27FC236}">
                <a16:creationId xmlns:a16="http://schemas.microsoft.com/office/drawing/2014/main" id="{0B70BB98-F689-49AA-97B3-6316FFF50B1D}"/>
              </a:ext>
            </a:extLst>
          </p:cNvPr>
          <p:cNvSpPr txBox="1"/>
          <p:nvPr/>
        </p:nvSpPr>
        <p:spPr>
          <a:xfrm>
            <a:off x="9504584" y="2793571"/>
            <a:ext cx="754200" cy="23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单点定位</a:t>
            </a:r>
          </a:p>
        </p:txBody>
      </p:sp>
    </p:spTree>
    <p:extLst>
      <p:ext uri="{BB962C8B-B14F-4D97-AF65-F5344CB8AC3E}">
        <p14:creationId xmlns:p14="http://schemas.microsoft.com/office/powerpoint/2010/main" val="119980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4054</TotalTime>
  <Words>234</Words>
  <Application>Microsoft Office PowerPoint</Application>
  <PresentationFormat>宽屏</PresentationFormat>
  <Paragraphs>98</Paragraphs>
  <Slides>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钰豪 郭</dc:creator>
  <cp:lastModifiedBy>钰豪 郭</cp:lastModifiedBy>
  <cp:revision>45</cp:revision>
  <dcterms:created xsi:type="dcterms:W3CDTF">2025-11-05T11:37:46Z</dcterms:created>
  <dcterms:modified xsi:type="dcterms:W3CDTF">2025-11-22T10:53:55Z</dcterms:modified>
</cp:coreProperties>
</file>